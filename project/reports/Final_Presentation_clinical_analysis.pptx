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2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Cambria Bold" charset="1" panose="02040803050406030204"/>
      <p:regular r:id="rId15"/>
    </p:embeddedFont>
    <p:embeddedFont>
      <p:font typeface="Calibri (MS) Italics" charset="1" panose="020F05020202040A0204"/>
      <p:regular r:id="rId16"/>
    </p:embeddedFont>
    <p:embeddedFont>
      <p:font typeface="Calibri (MS)" charset="1" panose="020F0502020204030204"/>
      <p:regular r:id="rId17"/>
    </p:embeddedFont>
    <p:embeddedFont>
      <p:font typeface="Calibri (MS) Bold" charset="1" panose="020F070203040403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notesMasters/notesMaster1.xml" Type="http://schemas.openxmlformats.org/officeDocument/2006/relationships/notesMaster"/><Relationship Id="rId13" Target="theme/theme2.xml" Type="http://schemas.openxmlformats.org/officeDocument/2006/relationships/theme"/><Relationship Id="rId14" Target="notesSlides/notesSlide1.xml" Type="http://schemas.openxmlformats.org/officeDocument/2006/relationships/notes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notesSlides/notesSlide2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notesSlides/notesSlide3.xml" Type="http://schemas.openxmlformats.org/officeDocument/2006/relationships/notesSlide"/><Relationship Id="rId21" Target="notesSlides/notesSlide4.xml" Type="http://schemas.openxmlformats.org/officeDocument/2006/relationships/notesSlide"/><Relationship Id="rId22" Target="notesSlides/notesSlide5.xml" Type="http://schemas.openxmlformats.org/officeDocument/2006/relationships/notesSlide"/><Relationship Id="rId23" Target="notesSlides/notesSlide6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1577340"/>
            <a:ext cx="16322040" cy="1508760"/>
            <a:chOff x="0" y="0"/>
            <a:chExt cx="21762720" cy="20116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62720" cy="2011680"/>
            </a:xfrm>
            <a:custGeom>
              <a:avLst/>
              <a:gdLst/>
              <a:ahLst/>
              <a:cxnLst/>
              <a:rect r="r" b="b" t="t" l="l"/>
              <a:pathLst>
                <a:path h="201168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792" r="0" b="-16079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762720" cy="2021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839"/>
                </a:lnSpc>
              </a:pPr>
              <a:r>
                <a:rPr lang="en-US" sz="57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CLINICAL DATA INTELLIGENCE PIPELINE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2948940"/>
            <a:ext cx="14401800" cy="822960"/>
            <a:chOff x="0" y="0"/>
            <a:chExt cx="19202400" cy="10972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2024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920240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AFC6D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Clustering patient profiles and treatment pathways in a 55,500-admission synthetic healthcare dataset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" y="8983980"/>
            <a:ext cx="15087600" cy="480060"/>
            <a:chOff x="0" y="0"/>
            <a:chExt cx="20116800" cy="6400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116800" cy="640080"/>
            </a:xfrm>
            <a:custGeom>
              <a:avLst/>
              <a:gdLst/>
              <a:ahLst/>
              <a:cxnLst/>
              <a:rect r="r" b="b" t="t" l="l"/>
              <a:pathLst>
                <a:path h="64008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2386" r="0" b="-56238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01168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9A2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Big Data — Final Project  |  Universidad Peruana de Ciencias Aplicadas  |  Section 18519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60120" y="9464040"/>
            <a:ext cx="15087600" cy="480060"/>
            <a:chOff x="0" y="0"/>
            <a:chExt cx="20116800" cy="6400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116800" cy="640080"/>
            </a:xfrm>
            <a:custGeom>
              <a:avLst/>
              <a:gdLst/>
              <a:ahLst/>
              <a:cxnLst/>
              <a:rect r="r" b="b" t="t" l="l"/>
              <a:pathLst>
                <a:path h="64008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2386" r="0" b="-56238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01168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9A2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Gómez Rubina, L.  ·  Miranda Cárdenas, S.  ·  Olivera Álvarez, L.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960120" y="5143500"/>
            <a:ext cx="15467665" cy="2284221"/>
          </a:xfrm>
          <a:custGeom>
            <a:avLst/>
            <a:gdLst/>
            <a:ahLst/>
            <a:cxnLst/>
            <a:rect r="r" b="b" t="t" l="l"/>
            <a:pathLst>
              <a:path h="2284221" w="15467665">
                <a:moveTo>
                  <a:pt x="0" y="0"/>
                </a:moveTo>
                <a:lnTo>
                  <a:pt x="15467665" y="0"/>
                </a:lnTo>
                <a:lnTo>
                  <a:pt x="15467665" y="2284221"/>
                </a:lnTo>
                <a:lnTo>
                  <a:pt x="0" y="22842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2699" r="0" b="-12699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617220"/>
            <a:ext cx="13716000" cy="822960"/>
            <a:chOff x="0" y="0"/>
            <a:chExt cx="1828800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828800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DATA &amp; PREPROCESSING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399032"/>
            <a:ext cx="14401800" cy="548640"/>
            <a:chOff x="0" y="0"/>
            <a:chExt cx="192024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202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1482" r="0" b="-46148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92024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5B6B7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From a raw Kaggle export to a clean, ethics-documented relational model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50595" y="2390775"/>
            <a:ext cx="3790950" cy="2556510"/>
            <a:chOff x="0" y="0"/>
            <a:chExt cx="5054600" cy="34086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54600" cy="3408680"/>
            </a:xfrm>
            <a:custGeom>
              <a:avLst/>
              <a:gdLst/>
              <a:ahLst/>
              <a:cxnLst/>
              <a:rect r="r" b="b" t="t" l="l"/>
              <a:pathLst>
                <a:path h="3408680" w="5054600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4907153" y="0"/>
                  </a:lnTo>
                  <a:cubicBezTo>
                    <a:pt x="4988560" y="0"/>
                    <a:pt x="5054600" y="66040"/>
                    <a:pt x="5054600" y="147447"/>
                  </a:cubicBezTo>
                  <a:lnTo>
                    <a:pt x="5054600" y="3261233"/>
                  </a:lnTo>
                  <a:cubicBezTo>
                    <a:pt x="5054600" y="3342640"/>
                    <a:pt x="4988560" y="3408680"/>
                    <a:pt x="4907153" y="3408680"/>
                  </a:cubicBezTo>
                  <a:lnTo>
                    <a:pt x="147447" y="3408680"/>
                  </a:lnTo>
                  <a:cubicBezTo>
                    <a:pt x="66040" y="3408680"/>
                    <a:pt x="0" y="3342640"/>
                    <a:pt x="0" y="326123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6EC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960120" y="2647188"/>
            <a:ext cx="3771900" cy="1028700"/>
            <a:chOff x="0" y="0"/>
            <a:chExt cx="5029200" cy="1371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0292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5029200" cy="1381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120"/>
                </a:lnSpc>
              </a:pPr>
              <a:r>
                <a:rPr lang="en-US" sz="5100" b="true">
                  <a:solidFill>
                    <a:srgbClr val="065A8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55,500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257300" y="3752088"/>
            <a:ext cx="3177540" cy="975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1B2430"/>
                </a:solidFill>
                <a:latin typeface="Calibri (MS)"/>
                <a:ea typeface="Calibri (MS)"/>
                <a:cs typeface="Calibri (MS)"/>
                <a:sym typeface="Calibri (MS)"/>
              </a:rPr>
              <a:t>raw admission</a:t>
            </a:r>
          </a:p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1B2430"/>
                </a:solidFill>
                <a:latin typeface="Calibri (MS)"/>
                <a:ea typeface="Calibri (MS)"/>
                <a:cs typeface="Calibri (MS)"/>
                <a:sym typeface="Calibri (MS)"/>
              </a:rPr>
              <a:t>records (Kaggle,</a:t>
            </a:r>
          </a:p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1B2430"/>
                </a:solidFill>
                <a:latin typeface="Calibri (MS)"/>
                <a:ea typeface="Calibri (MS)"/>
                <a:cs typeface="Calibri (MS)"/>
                <a:sym typeface="Calibri (MS)"/>
              </a:rPr>
              <a:t>synthetic)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4996815" y="2390775"/>
            <a:ext cx="3790950" cy="2556510"/>
            <a:chOff x="0" y="0"/>
            <a:chExt cx="5054600" cy="34086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054600" cy="3408680"/>
            </a:xfrm>
            <a:custGeom>
              <a:avLst/>
              <a:gdLst/>
              <a:ahLst/>
              <a:cxnLst/>
              <a:rect r="r" b="b" t="t" l="l"/>
              <a:pathLst>
                <a:path h="3408680" w="5054600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4907153" y="0"/>
                  </a:lnTo>
                  <a:cubicBezTo>
                    <a:pt x="4988560" y="0"/>
                    <a:pt x="5054600" y="66040"/>
                    <a:pt x="5054600" y="147447"/>
                  </a:cubicBezTo>
                  <a:lnTo>
                    <a:pt x="5054600" y="3261233"/>
                  </a:lnTo>
                  <a:cubicBezTo>
                    <a:pt x="5054600" y="3342640"/>
                    <a:pt x="4988560" y="3408680"/>
                    <a:pt x="4907153" y="3408680"/>
                  </a:cubicBezTo>
                  <a:lnTo>
                    <a:pt x="147447" y="3408680"/>
                  </a:lnTo>
                  <a:cubicBezTo>
                    <a:pt x="66040" y="3408680"/>
                    <a:pt x="0" y="3342640"/>
                    <a:pt x="0" y="326123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6EC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5006340" y="2647188"/>
            <a:ext cx="3771900" cy="1028700"/>
            <a:chOff x="0" y="0"/>
            <a:chExt cx="5029200" cy="13716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0292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5029200" cy="1381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120"/>
                </a:lnSpc>
              </a:pPr>
              <a:r>
                <a:rPr lang="en-US" sz="5100" b="true">
                  <a:solidFill>
                    <a:srgbClr val="065A8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54,966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5303520" y="3752088"/>
            <a:ext cx="3177540" cy="975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1B2430"/>
                </a:solidFill>
                <a:latin typeface="Calibri (MS)"/>
                <a:ea typeface="Calibri (MS)"/>
                <a:cs typeface="Calibri (MS)"/>
                <a:sym typeface="Calibri (MS)"/>
              </a:rPr>
              <a:t>records after</a:t>
            </a:r>
          </a:p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1B2430"/>
                </a:solidFill>
                <a:latin typeface="Calibri (MS)"/>
                <a:ea typeface="Calibri (MS)"/>
                <a:cs typeface="Calibri (MS)"/>
                <a:sym typeface="Calibri (MS)"/>
              </a:rPr>
              <a:t>duplicate</a:t>
            </a:r>
          </a:p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1B2430"/>
                </a:solidFill>
                <a:latin typeface="Calibri (MS)"/>
                <a:ea typeface="Calibri (MS)"/>
                <a:cs typeface="Calibri (MS)"/>
                <a:sym typeface="Calibri (MS)"/>
              </a:rPr>
              <a:t>removal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043035" y="2390775"/>
            <a:ext cx="3790950" cy="2556510"/>
            <a:chOff x="0" y="0"/>
            <a:chExt cx="5054600" cy="34086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054600" cy="3408680"/>
            </a:xfrm>
            <a:custGeom>
              <a:avLst/>
              <a:gdLst/>
              <a:ahLst/>
              <a:cxnLst/>
              <a:rect r="r" b="b" t="t" l="l"/>
              <a:pathLst>
                <a:path h="3408680" w="5054600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4907153" y="0"/>
                  </a:lnTo>
                  <a:cubicBezTo>
                    <a:pt x="4988560" y="0"/>
                    <a:pt x="5054600" y="66040"/>
                    <a:pt x="5054600" y="147447"/>
                  </a:cubicBezTo>
                  <a:lnTo>
                    <a:pt x="5054600" y="3261233"/>
                  </a:lnTo>
                  <a:cubicBezTo>
                    <a:pt x="5054600" y="3342640"/>
                    <a:pt x="4988560" y="3408680"/>
                    <a:pt x="4907153" y="3408680"/>
                  </a:cubicBezTo>
                  <a:lnTo>
                    <a:pt x="147447" y="3408680"/>
                  </a:lnTo>
                  <a:cubicBezTo>
                    <a:pt x="66040" y="3408680"/>
                    <a:pt x="0" y="3342640"/>
                    <a:pt x="0" y="326123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6EC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9052560" y="2647188"/>
            <a:ext cx="3771900" cy="1028700"/>
            <a:chOff x="0" y="0"/>
            <a:chExt cx="5029200" cy="13716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0292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5029200" cy="1381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120"/>
                </a:lnSpc>
              </a:pPr>
              <a:r>
                <a:rPr lang="en-US" sz="5100" b="true">
                  <a:solidFill>
                    <a:srgbClr val="065A8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33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9349740" y="3752088"/>
            <a:ext cx="3177540" cy="975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1B2430"/>
                </a:solidFill>
                <a:latin typeface="Calibri (MS)"/>
                <a:ea typeface="Calibri (MS)"/>
                <a:cs typeface="Calibri (MS)"/>
                <a:sym typeface="Calibri (MS)"/>
              </a:rPr>
              <a:t>engineered</a:t>
            </a:r>
          </a:p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1B2430"/>
                </a:solidFill>
                <a:latin typeface="Calibri (MS)"/>
                <a:ea typeface="Calibri (MS)"/>
                <a:cs typeface="Calibri (MS)"/>
                <a:sym typeface="Calibri (MS)"/>
              </a:rPr>
              <a:t>features in the</a:t>
            </a:r>
          </a:p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1B2430"/>
                </a:solidFill>
                <a:latin typeface="Calibri (MS)"/>
                <a:ea typeface="Calibri (MS)"/>
                <a:cs typeface="Calibri (MS)"/>
                <a:sym typeface="Calibri (MS)"/>
              </a:rPr>
              <a:t>patient matrix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3089255" y="2390775"/>
            <a:ext cx="3790950" cy="2556510"/>
            <a:chOff x="0" y="0"/>
            <a:chExt cx="5054600" cy="34086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054600" cy="3408680"/>
            </a:xfrm>
            <a:custGeom>
              <a:avLst/>
              <a:gdLst/>
              <a:ahLst/>
              <a:cxnLst/>
              <a:rect r="r" b="b" t="t" l="l"/>
              <a:pathLst>
                <a:path h="3408680" w="5054600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4907153" y="0"/>
                  </a:lnTo>
                  <a:cubicBezTo>
                    <a:pt x="4988560" y="0"/>
                    <a:pt x="5054600" y="66040"/>
                    <a:pt x="5054600" y="147447"/>
                  </a:cubicBezTo>
                  <a:lnTo>
                    <a:pt x="5054600" y="3261233"/>
                  </a:lnTo>
                  <a:cubicBezTo>
                    <a:pt x="5054600" y="3342640"/>
                    <a:pt x="4988560" y="3408680"/>
                    <a:pt x="4907153" y="3408680"/>
                  </a:cubicBezTo>
                  <a:lnTo>
                    <a:pt x="147447" y="3408680"/>
                  </a:lnTo>
                  <a:cubicBezTo>
                    <a:pt x="66040" y="3408680"/>
                    <a:pt x="0" y="3342640"/>
                    <a:pt x="0" y="326123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6EC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3098780" y="2647188"/>
            <a:ext cx="3771900" cy="1028700"/>
            <a:chOff x="0" y="0"/>
            <a:chExt cx="5029200" cy="13716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0292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5029200" cy="1381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120"/>
                </a:lnSpc>
              </a:pPr>
              <a:r>
                <a:rPr lang="en-US" sz="5100" b="true">
                  <a:solidFill>
                    <a:srgbClr val="065A8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3395960" y="3752088"/>
            <a:ext cx="3177540" cy="975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1B2430"/>
                </a:solidFill>
                <a:latin typeface="Calibri (MS)"/>
                <a:ea typeface="Calibri (MS)"/>
                <a:cs typeface="Calibri (MS)"/>
                <a:sym typeface="Calibri (MS)"/>
              </a:rPr>
              <a:t>missing values</a:t>
            </a:r>
          </a:p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1B2430"/>
                </a:solidFill>
                <a:latin typeface="Calibri (MS)"/>
                <a:ea typeface="Calibri (MS)"/>
                <a:cs typeface="Calibri (MS)"/>
                <a:sym typeface="Calibri (MS)"/>
              </a:rPr>
              <a:t>in the final</a:t>
            </a:r>
          </a:p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1B2430"/>
                </a:solidFill>
                <a:latin typeface="Calibri (MS)"/>
                <a:ea typeface="Calibri (MS)"/>
                <a:cs typeface="Calibri (MS)"/>
                <a:sym typeface="Calibri (MS)"/>
              </a:rPr>
              <a:t>dataset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73455" y="5394960"/>
            <a:ext cx="16341090" cy="3582094"/>
            <a:chOff x="0" y="0"/>
            <a:chExt cx="21788120" cy="477612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1788120" cy="4776125"/>
            </a:xfrm>
            <a:custGeom>
              <a:avLst/>
              <a:gdLst/>
              <a:ahLst/>
              <a:cxnLst/>
              <a:rect r="r" b="b" t="t" l="l"/>
              <a:pathLst>
                <a:path h="4776125" w="21788120">
                  <a:moveTo>
                    <a:pt x="0" y="155884"/>
                  </a:moveTo>
                  <a:cubicBezTo>
                    <a:pt x="0" y="69865"/>
                    <a:pt x="65913" y="0"/>
                    <a:pt x="147066" y="0"/>
                  </a:cubicBezTo>
                  <a:lnTo>
                    <a:pt x="21641054" y="0"/>
                  </a:lnTo>
                  <a:cubicBezTo>
                    <a:pt x="21722335" y="0"/>
                    <a:pt x="21788120" y="69865"/>
                    <a:pt x="21788120" y="155884"/>
                  </a:cubicBezTo>
                  <a:lnTo>
                    <a:pt x="21788120" y="4620241"/>
                  </a:lnTo>
                  <a:cubicBezTo>
                    <a:pt x="21788120" y="4706395"/>
                    <a:pt x="21722207" y="4776125"/>
                    <a:pt x="21641054" y="4776125"/>
                  </a:cubicBezTo>
                  <a:lnTo>
                    <a:pt x="147066" y="4776125"/>
                  </a:lnTo>
                  <a:cubicBezTo>
                    <a:pt x="65913" y="4776125"/>
                    <a:pt x="0" y="4706260"/>
                    <a:pt x="0" y="4620241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6EC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440180" y="5870448"/>
            <a:ext cx="685800" cy="685800"/>
            <a:chOff x="0" y="0"/>
            <a:chExt cx="914400" cy="9144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440180" y="5870448"/>
            <a:ext cx="685800" cy="685800"/>
            <a:chOff x="0" y="0"/>
            <a:chExt cx="914400" cy="9144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9144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2491740" y="5671185"/>
            <a:ext cx="14218920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4"/>
              </a:lnSpc>
            </a:pPr>
            <a:r>
              <a:rPr lang="en-US" sz="2025" b="true">
                <a:solidFill>
                  <a:srgbClr val="21295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Normalized relational model — </a:t>
            </a:r>
            <a:r>
              <a:rPr lang="en-US" sz="2025">
                <a:solidFill>
                  <a:srgbClr val="1B2430"/>
                </a:solidFill>
                <a:latin typeface="Calibri (MS)"/>
                <a:ea typeface="Calibri (MS)"/>
                <a:cs typeface="Calibri (MS)"/>
                <a:sym typeface="Calibri (MS)"/>
              </a:rPr>
              <a:t>patients, hospitals, doctors, medical_conditions, medications, medical_records, joined on documented primary/foreign keys.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440180" y="6995160"/>
            <a:ext cx="685800" cy="685800"/>
            <a:chOff x="0" y="0"/>
            <a:chExt cx="914400" cy="9144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440180" y="6995160"/>
            <a:ext cx="685800" cy="685800"/>
            <a:chOff x="0" y="0"/>
            <a:chExt cx="914400" cy="9144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9144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2491740" y="6795897"/>
            <a:ext cx="14218920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4"/>
              </a:lnSpc>
            </a:pPr>
            <a:r>
              <a:rPr lang="en-US" sz="2025" b="true">
                <a:solidFill>
                  <a:srgbClr val="21295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Ethics &amp; Access Note — </a:t>
            </a:r>
            <a:r>
              <a:rPr lang="en-US" sz="2025">
                <a:solidFill>
                  <a:srgbClr val="1B2430"/>
                </a:solidFill>
                <a:latin typeface="Calibri (MS)"/>
                <a:ea typeface="Calibri (MS)"/>
                <a:cs typeface="Calibri (MS)"/>
                <a:sym typeface="Calibri (MS)"/>
              </a:rPr>
              <a:t>the source dataset is synthetic (Kaggle) and contains no real patient records; all findings describe patterns within this synthetic population, not clinical claims.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1440180" y="8119872"/>
            <a:ext cx="685800" cy="685800"/>
            <a:chOff x="0" y="0"/>
            <a:chExt cx="914400" cy="9144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440180" y="8119872"/>
            <a:ext cx="685800" cy="685800"/>
            <a:chOff x="0" y="0"/>
            <a:chExt cx="914400" cy="9144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9144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2491740" y="7920609"/>
            <a:ext cx="14218920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4"/>
              </a:lnSpc>
            </a:pPr>
            <a:r>
              <a:rPr lang="en-US" sz="2025" b="true">
                <a:solidFill>
                  <a:srgbClr val="21295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Feature engineering — </a:t>
            </a:r>
            <a:r>
              <a:rPr lang="en-US" sz="2025">
                <a:solidFill>
                  <a:srgbClr val="1B2430"/>
                </a:solidFill>
                <a:latin typeface="Calibri (MS)"/>
                <a:ea typeface="Calibri (MS)"/>
                <a:cs typeface="Calibri (MS)"/>
                <a:sym typeface="Calibri (MS)"/>
              </a:rPr>
              <a:t>Cost_Per_Day and decoded categorical labels were derived at this stage, feeding directly into the 33-feature patient matrix used for PCA.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617220"/>
            <a:ext cx="15773400" cy="822960"/>
            <a:chOff x="0" y="0"/>
            <a:chExt cx="2103120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3463" r="0" b="-32346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103120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DIMENSIONALITY REDUCTION &amp; CLUSTERING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440180"/>
            <a:ext cx="15773400" cy="548640"/>
            <a:chOff x="0" y="0"/>
            <a:chExt cx="210312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0194" r="0" b="-51019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10312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5B6B7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PCA compresses the feature space; K-Means and DBSCAN are compared head-to-head for production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50595" y="2253615"/>
            <a:ext cx="7700010" cy="6671310"/>
            <a:chOff x="0" y="0"/>
            <a:chExt cx="10266680" cy="88950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266680" cy="8895080"/>
            </a:xfrm>
            <a:custGeom>
              <a:avLst/>
              <a:gdLst/>
              <a:ahLst/>
              <a:cxnLst/>
              <a:rect r="r" b="b" t="t" l="l"/>
              <a:pathLst>
                <a:path h="8895080" w="10266680">
                  <a:moveTo>
                    <a:pt x="0" y="146685"/>
                  </a:moveTo>
                  <a:cubicBezTo>
                    <a:pt x="0" y="65659"/>
                    <a:pt x="65659" y="0"/>
                    <a:pt x="146685" y="0"/>
                  </a:cubicBezTo>
                  <a:lnTo>
                    <a:pt x="10119995" y="0"/>
                  </a:lnTo>
                  <a:cubicBezTo>
                    <a:pt x="10201021" y="0"/>
                    <a:pt x="10266680" y="65659"/>
                    <a:pt x="10266680" y="146685"/>
                  </a:cubicBezTo>
                  <a:lnTo>
                    <a:pt x="10266680" y="8748395"/>
                  </a:lnTo>
                  <a:cubicBezTo>
                    <a:pt x="10266680" y="8829421"/>
                    <a:pt x="10201021" y="8895080"/>
                    <a:pt x="10119995" y="8895080"/>
                  </a:cubicBezTo>
                  <a:lnTo>
                    <a:pt x="146685" y="8895080"/>
                  </a:lnTo>
                  <a:cubicBezTo>
                    <a:pt x="65659" y="8895080"/>
                    <a:pt x="0" y="8829421"/>
                    <a:pt x="0" y="874839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6EC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371600" y="2537460"/>
            <a:ext cx="6858000" cy="548640"/>
            <a:chOff x="0" y="0"/>
            <a:chExt cx="914400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44000" cy="731520"/>
            </a:xfrm>
            <a:custGeom>
              <a:avLst/>
              <a:gdLst/>
              <a:ahLst/>
              <a:cxnLst/>
              <a:rect r="r" b="b" t="t" l="l"/>
              <a:pathLst>
                <a:path h="73152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91440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065A8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PCA + t-SNE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71600" y="3154680"/>
            <a:ext cx="3291840" cy="960120"/>
            <a:chOff x="0" y="0"/>
            <a:chExt cx="4389120" cy="12801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389120" cy="1280160"/>
            </a:xfrm>
            <a:custGeom>
              <a:avLst/>
              <a:gdLst/>
              <a:ahLst/>
              <a:cxnLst/>
              <a:rect r="r" b="b" t="t" l="l"/>
              <a:pathLst>
                <a:path h="128016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805" r="0" b="-1680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438912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C7293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14–15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463040" y="4094988"/>
            <a:ext cx="6537960" cy="1112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1B2430"/>
                </a:solidFill>
                <a:latin typeface="Calibri (MS)"/>
                <a:ea typeface="Calibri (MS)"/>
                <a:cs typeface="Calibri (MS)"/>
                <a:sym typeface="Calibri (MS)"/>
              </a:rPr>
              <a:t>components retain</a:t>
            </a:r>
          </a:p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1B2430"/>
                </a:solidFill>
                <a:latin typeface="Calibri (MS)"/>
                <a:ea typeface="Calibri (MS)"/>
                <a:cs typeface="Calibri (MS)"/>
                <a:sym typeface="Calibri (MS)"/>
              </a:rPr>
              <a:t>~95–100% of variance</a:t>
            </a:r>
          </a:p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1B2430"/>
                </a:solidFill>
                <a:latin typeface="Calibri (MS)"/>
                <a:ea typeface="Calibri (MS)"/>
                <a:cs typeface="Calibri (MS)"/>
                <a:sym typeface="Calibri (MS)"/>
              </a:rPr>
              <a:t>(from 33 features)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362075" y="5408295"/>
            <a:ext cx="6739890" cy="19050"/>
            <a:chOff x="0" y="0"/>
            <a:chExt cx="8986520" cy="25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986520" cy="25400"/>
            </a:xfrm>
            <a:custGeom>
              <a:avLst/>
              <a:gdLst/>
              <a:ahLst/>
              <a:cxnLst/>
              <a:rect r="r" b="b" t="t" l="l"/>
              <a:pathLst>
                <a:path h="25400" w="8986520">
                  <a:moveTo>
                    <a:pt x="0" y="0"/>
                  </a:moveTo>
                  <a:lnTo>
                    <a:pt x="8986520" y="254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6843806" r="0" b="-6843806"/>
              </a:stretch>
            </a:blipFill>
            <a:ln w="19050" cap="sq">
              <a:solidFill>
                <a:srgbClr val="DCE6EC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1463040" y="5642610"/>
            <a:ext cx="6537960" cy="1512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950">
                <a:solidFill>
                  <a:srgbClr val="1B2430"/>
                </a:solidFill>
                <a:latin typeface="Calibri (MS)"/>
                <a:ea typeface="Calibri (MS)"/>
                <a:cs typeface="Calibri (MS)"/>
                <a:sym typeface="Calibri (MS)"/>
              </a:rPr>
              <a:t>t-SNE confirms a dominant patient population plus a smaller, persistent subgroup — motivating clustering rather than assuming one homogeneous population.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362075" y="7397115"/>
            <a:ext cx="6739890" cy="19050"/>
            <a:chOff x="0" y="0"/>
            <a:chExt cx="8986520" cy="25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986520" cy="25400"/>
            </a:xfrm>
            <a:custGeom>
              <a:avLst/>
              <a:gdLst/>
              <a:ahLst/>
              <a:cxnLst/>
              <a:rect r="r" b="b" t="t" l="l"/>
              <a:pathLst>
                <a:path h="25400" w="8986520">
                  <a:moveTo>
                    <a:pt x="0" y="0"/>
                  </a:moveTo>
                  <a:lnTo>
                    <a:pt x="8986520" y="254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6843806" r="0" b="-6843806"/>
              </a:stretch>
            </a:blipFill>
            <a:ln w="19050" cap="sq">
              <a:solidFill>
                <a:srgbClr val="DCE6EC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1463040" y="7562850"/>
            <a:ext cx="6537960" cy="1101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950" b="true">
                <a:solidFill>
                  <a:srgbClr val="21295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Validated with: </a:t>
            </a:r>
            <a:r>
              <a:rPr lang="en-US" sz="1950">
                <a:solidFill>
                  <a:srgbClr val="1B2430"/>
                </a:solidFill>
                <a:latin typeface="Calibri (MS)"/>
                <a:ea typeface="Calibri (MS)"/>
                <a:cs typeface="Calibri (MS)"/>
                <a:sym typeface="Calibri (MS)"/>
              </a:rPr>
              <a:t>silhouette score and the Calinski-Harabasz index.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8983980" y="2263140"/>
            <a:ext cx="8298180" cy="6652260"/>
            <a:chOff x="0" y="0"/>
            <a:chExt cx="11064240" cy="88696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064240" cy="8869680"/>
            </a:xfrm>
            <a:custGeom>
              <a:avLst/>
              <a:gdLst/>
              <a:ahLst/>
              <a:cxnLst/>
              <a:rect r="r" b="b" t="t" l="l"/>
              <a:pathLst>
                <a:path h="8869680" w="110642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917936" y="0"/>
                  </a:lnTo>
                  <a:cubicBezTo>
                    <a:pt x="10998708" y="0"/>
                    <a:pt x="11064240" y="65532"/>
                    <a:pt x="11064240" y="146304"/>
                  </a:cubicBezTo>
                  <a:lnTo>
                    <a:pt x="11064240" y="8723376"/>
                  </a:lnTo>
                  <a:cubicBezTo>
                    <a:pt x="11064240" y="8804148"/>
                    <a:pt x="10998708" y="8869680"/>
                    <a:pt x="10917936" y="8869680"/>
                  </a:cubicBezTo>
                  <a:lnTo>
                    <a:pt x="146304" y="8869680"/>
                  </a:lnTo>
                  <a:cubicBezTo>
                    <a:pt x="65532" y="8869680"/>
                    <a:pt x="0" y="8804148"/>
                    <a:pt x="0" y="8723376"/>
                  </a:cubicBezTo>
                  <a:close/>
                </a:path>
              </a:pathLst>
            </a:custGeom>
            <a:solidFill>
              <a:srgbClr val="21295C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395460" y="2537460"/>
            <a:ext cx="7543800" cy="548640"/>
            <a:chOff x="0" y="0"/>
            <a:chExt cx="10058400" cy="7315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058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100584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K-Means  vs.  DBSCAN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412980" y="3223260"/>
            <a:ext cx="2331720" cy="411480"/>
            <a:chOff x="0" y="0"/>
            <a:chExt cx="3108960" cy="5486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108960" cy="548640"/>
            </a:xfrm>
            <a:custGeom>
              <a:avLst/>
              <a:gdLst/>
              <a:ahLst/>
              <a:cxnLst/>
              <a:rect r="r" b="b" t="t" l="l"/>
              <a:pathLst>
                <a:path h="54864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415" r="0" b="-60415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310896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5CC8D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K-Means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4881860" y="3223260"/>
            <a:ext cx="2331720" cy="411480"/>
            <a:chOff x="0" y="0"/>
            <a:chExt cx="3108960" cy="5486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108960" cy="548640"/>
            </a:xfrm>
            <a:custGeom>
              <a:avLst/>
              <a:gdLst/>
              <a:ahLst/>
              <a:cxnLst/>
              <a:rect r="r" b="b" t="t" l="l"/>
              <a:pathLst>
                <a:path h="54864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415" r="0" b="-60415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310896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9FB3C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DBSCAN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9486900" y="3779520"/>
            <a:ext cx="2697480" cy="1112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C7D6E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Segments found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435840" y="3779520"/>
            <a:ext cx="2217420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0"/>
              </a:lnSpc>
            </a:pPr>
            <a:r>
              <a:rPr lang="en-US" sz="172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4 operational</a:t>
            </a:r>
          </a:p>
          <a:p>
            <a:pPr algn="ctr">
              <a:lnSpc>
                <a:spcPts val="2070"/>
              </a:lnSpc>
            </a:pPr>
            <a:r>
              <a:rPr lang="en-US" sz="172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patient groups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904720" y="3779520"/>
            <a:ext cx="2217420" cy="1112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0"/>
              </a:lnSpc>
            </a:pPr>
            <a:r>
              <a:rPr lang="en-US" sz="1725">
                <a:solidFill>
                  <a:srgbClr val="9FB3C8"/>
                </a:solidFill>
                <a:latin typeface="Calibri (MS)"/>
                <a:ea typeface="Calibri (MS)"/>
                <a:cs typeface="Calibri (MS)"/>
                <a:sym typeface="Calibri (MS)"/>
              </a:rPr>
              <a:t>100% noise for</a:t>
            </a:r>
          </a:p>
          <a:p>
            <a:pPr algn="ctr">
              <a:lnSpc>
                <a:spcPts val="2070"/>
              </a:lnSpc>
            </a:pPr>
            <a:r>
              <a:rPr lang="en-US" sz="1725">
                <a:solidFill>
                  <a:srgbClr val="9FB3C8"/>
                </a:solidFill>
                <a:latin typeface="Calibri (MS)"/>
                <a:ea typeface="Calibri (MS)"/>
                <a:cs typeface="Calibri (MS)"/>
                <a:sym typeface="Calibri (MS)"/>
              </a:rPr>
              <a:t>eps ≤ 1.5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388316" y="4999196"/>
            <a:ext cx="7832407" cy="14288"/>
            <a:chOff x="0" y="0"/>
            <a:chExt cx="10443210" cy="1905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443210" cy="19050"/>
            </a:xfrm>
            <a:custGeom>
              <a:avLst/>
              <a:gdLst/>
              <a:ahLst/>
              <a:cxnLst/>
              <a:rect r="r" b="b" t="t" l="l"/>
              <a:pathLst>
                <a:path h="19050" w="10443210">
                  <a:moveTo>
                    <a:pt x="0" y="0"/>
                  </a:moveTo>
                  <a:lnTo>
                    <a:pt x="10443210" y="19050"/>
                  </a:lnTo>
                </a:path>
              </a:pathLst>
            </a:custGeom>
            <a:solidFill>
              <a:srgbClr val="5CC8D7">
                <a:alpha val="0"/>
              </a:srgbClr>
            </a:solidFill>
            <a:ln w="14288" cap="sq">
              <a:solidFill>
                <a:srgbClr val="5CC8D7"/>
              </a:solidFill>
              <a:prstDash val="solid"/>
              <a:miter/>
            </a:ln>
          </p:spPr>
        </p:sp>
      </p:grpSp>
      <p:sp>
        <p:nvSpPr>
          <p:cNvPr name="TextBox 39" id="39"/>
          <p:cNvSpPr txBox="true"/>
          <p:nvPr/>
        </p:nvSpPr>
        <p:spPr>
          <a:xfrm rot="0">
            <a:off x="9486900" y="5151120"/>
            <a:ext cx="2697480" cy="1112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C7D6E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Best config result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435840" y="5151120"/>
            <a:ext cx="2217420" cy="1112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0"/>
              </a:lnSpc>
            </a:pPr>
            <a:r>
              <a:rPr lang="en-US" sz="172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Clean, validated</a:t>
            </a:r>
          </a:p>
          <a:p>
            <a:pPr algn="ctr">
              <a:lnSpc>
                <a:spcPts val="2070"/>
              </a:lnSpc>
            </a:pPr>
            <a:r>
              <a:rPr lang="en-US" sz="172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clusters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4904720" y="5151120"/>
            <a:ext cx="2217420" cy="1112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0"/>
              </a:lnSpc>
            </a:pPr>
            <a:r>
              <a:rPr lang="en-US" sz="1725">
                <a:solidFill>
                  <a:srgbClr val="9FB3C8"/>
                </a:solidFill>
                <a:latin typeface="Calibri (MS)"/>
                <a:ea typeface="Calibri (MS)"/>
                <a:cs typeface="Calibri (MS)"/>
                <a:sym typeface="Calibri (MS)"/>
              </a:rPr>
              <a:t>eps = 2.5 →</a:t>
            </a:r>
          </a:p>
          <a:p>
            <a:pPr algn="ctr">
              <a:lnSpc>
                <a:spcPts val="2070"/>
              </a:lnSpc>
            </a:pPr>
            <a:r>
              <a:rPr lang="en-US" sz="1725">
                <a:solidFill>
                  <a:srgbClr val="9FB3C8"/>
                </a:solidFill>
                <a:latin typeface="Calibri (MS)"/>
                <a:ea typeface="Calibri (MS)"/>
                <a:cs typeface="Calibri (MS)"/>
                <a:sym typeface="Calibri (MS)"/>
              </a:rPr>
              <a:t>only 2 clusters,</a:t>
            </a:r>
          </a:p>
          <a:p>
            <a:pPr algn="ctr">
              <a:lnSpc>
                <a:spcPts val="2070"/>
              </a:lnSpc>
            </a:pPr>
            <a:r>
              <a:rPr lang="en-US" sz="1725">
                <a:solidFill>
                  <a:srgbClr val="9FB3C8"/>
                </a:solidFill>
                <a:latin typeface="Calibri (MS)"/>
                <a:ea typeface="Calibri (MS)"/>
                <a:cs typeface="Calibri (MS)"/>
                <a:sym typeface="Calibri (MS)"/>
              </a:rPr>
              <a:t>14.55% noise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9388316" y="6370796"/>
            <a:ext cx="7832407" cy="14288"/>
            <a:chOff x="0" y="0"/>
            <a:chExt cx="10443210" cy="1905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443210" cy="19050"/>
            </a:xfrm>
            <a:custGeom>
              <a:avLst/>
              <a:gdLst/>
              <a:ahLst/>
              <a:cxnLst/>
              <a:rect r="r" b="b" t="t" l="l"/>
              <a:pathLst>
                <a:path h="19050" w="10443210">
                  <a:moveTo>
                    <a:pt x="0" y="0"/>
                  </a:moveTo>
                  <a:lnTo>
                    <a:pt x="10443210" y="1905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0631697" r="0" b="-10631697"/>
              </a:stretch>
            </a:blipFill>
            <a:ln w="14288" cap="sq">
              <a:solidFill>
                <a:srgbClr val="3E5C78"/>
              </a:solidFill>
              <a:prstDash val="solid"/>
              <a:miter/>
            </a:ln>
          </p:spPr>
        </p:sp>
      </p:grpSp>
      <p:sp>
        <p:nvSpPr>
          <p:cNvPr name="TextBox 44" id="44"/>
          <p:cNvSpPr txBox="true"/>
          <p:nvPr/>
        </p:nvSpPr>
        <p:spPr>
          <a:xfrm rot="0">
            <a:off x="9486900" y="6522720"/>
            <a:ext cx="2697480" cy="1112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C7D6E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Role in project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435840" y="6522720"/>
            <a:ext cx="2217420" cy="1112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0"/>
              </a:lnSpc>
            </a:pPr>
            <a:r>
              <a:rPr lang="en-US" sz="172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Primary production</a:t>
            </a:r>
          </a:p>
          <a:p>
            <a:pPr algn="ctr">
              <a:lnSpc>
                <a:spcPts val="2070"/>
              </a:lnSpc>
            </a:pPr>
            <a:r>
              <a:rPr lang="en-US" sz="172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segmentation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4904720" y="6522720"/>
            <a:ext cx="2217420" cy="1112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0"/>
              </a:lnSpc>
            </a:pPr>
            <a:r>
              <a:rPr lang="en-US" sz="1725">
                <a:solidFill>
                  <a:srgbClr val="9FB3C8"/>
                </a:solidFill>
                <a:latin typeface="Calibri (MS)"/>
                <a:ea typeface="Calibri (MS)"/>
                <a:cs typeface="Calibri (MS)"/>
                <a:sym typeface="Calibri (MS)"/>
              </a:rPr>
              <a:t>Outlier / forensic</a:t>
            </a:r>
          </a:p>
          <a:p>
            <a:pPr algn="ctr">
              <a:lnSpc>
                <a:spcPts val="2070"/>
              </a:lnSpc>
            </a:pPr>
            <a:r>
              <a:rPr lang="en-US" sz="1725">
                <a:solidFill>
                  <a:srgbClr val="9FB3C8"/>
                </a:solidFill>
                <a:latin typeface="Calibri (MS)"/>
                <a:ea typeface="Calibri (MS)"/>
                <a:cs typeface="Calibri (MS)"/>
                <a:sym typeface="Calibri (MS)"/>
              </a:rPr>
              <a:t>detection only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9388316" y="7742396"/>
            <a:ext cx="7832407" cy="14288"/>
            <a:chOff x="0" y="0"/>
            <a:chExt cx="10443210" cy="1905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443210" cy="19050"/>
            </a:xfrm>
            <a:custGeom>
              <a:avLst/>
              <a:gdLst/>
              <a:ahLst/>
              <a:cxnLst/>
              <a:rect r="r" b="b" t="t" l="l"/>
              <a:pathLst>
                <a:path h="19050" w="10443210">
                  <a:moveTo>
                    <a:pt x="0" y="0"/>
                  </a:moveTo>
                  <a:lnTo>
                    <a:pt x="10443210" y="1905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0631697" r="0" b="-10631697"/>
              </a:stretch>
            </a:blipFill>
            <a:ln w="14288" cap="sq">
              <a:solidFill>
                <a:srgbClr val="3E5C78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9395460" y="8023860"/>
            <a:ext cx="7475220" cy="1303020"/>
            <a:chOff x="0" y="0"/>
            <a:chExt cx="9966960" cy="173736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966960" cy="1737360"/>
            </a:xfrm>
            <a:custGeom>
              <a:avLst/>
              <a:gdLst/>
              <a:ahLst/>
              <a:cxnLst/>
              <a:rect r="r" b="b" t="t" l="l"/>
              <a:pathLst>
                <a:path h="1737360" w="996696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9857232" y="0"/>
                  </a:lnTo>
                  <a:cubicBezTo>
                    <a:pt x="9917811" y="0"/>
                    <a:pt x="9966960" y="49149"/>
                    <a:pt x="9966960" y="109728"/>
                  </a:cubicBezTo>
                  <a:lnTo>
                    <a:pt x="9966960" y="1627632"/>
                  </a:lnTo>
                  <a:cubicBezTo>
                    <a:pt x="9966960" y="1688211"/>
                    <a:pt x="9917811" y="1737360"/>
                    <a:pt x="9857232" y="1737360"/>
                  </a:cubicBezTo>
                  <a:lnTo>
                    <a:pt x="109728" y="1737360"/>
                  </a:lnTo>
                  <a:cubicBezTo>
                    <a:pt x="49149" y="1737360"/>
                    <a:pt x="0" y="1688211"/>
                    <a:pt x="0" y="1627632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9669780" y="8133588"/>
            <a:ext cx="6926580" cy="1097280"/>
            <a:chOff x="0" y="0"/>
            <a:chExt cx="9235440" cy="14630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2354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9235440">
                  <a:moveTo>
                    <a:pt x="0" y="0"/>
                  </a:moveTo>
                  <a:lnTo>
                    <a:pt x="9235440" y="0"/>
                  </a:lnTo>
                  <a:lnTo>
                    <a:pt x="92354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999" r="0" b="-72999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923544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Decision: K-Means selected for production — validated by both metrics and interpreted through a documented boundary/noise failure analysis.</a:t>
              </a:r>
            </a:p>
          </p:txBody>
        </p:sp>
      </p:grpSp>
      <p:sp>
        <p:nvSpPr>
          <p:cNvPr name="AutoShape 54" id="54"/>
          <p:cNvSpPr/>
          <p:nvPr/>
        </p:nvSpPr>
        <p:spPr>
          <a:xfrm>
            <a:off x="9921240" y="4713446"/>
            <a:ext cx="649224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5" id="55"/>
          <p:cNvSpPr/>
          <p:nvPr/>
        </p:nvSpPr>
        <p:spPr>
          <a:xfrm>
            <a:off x="9886950" y="6270784"/>
            <a:ext cx="649224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6" id="56"/>
          <p:cNvSpPr/>
          <p:nvPr/>
        </p:nvSpPr>
        <p:spPr>
          <a:xfrm>
            <a:off x="9886950" y="7880509"/>
            <a:ext cx="649224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617220"/>
            <a:ext cx="13716000" cy="822960"/>
            <a:chOff x="0" y="0"/>
            <a:chExt cx="1828800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828800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RANKING ENGINE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440180"/>
            <a:ext cx="15499080" cy="548640"/>
            <a:chOff x="0" y="0"/>
            <a:chExt cx="2066544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665439" cy="731520"/>
            </a:xfrm>
            <a:custGeom>
              <a:avLst/>
              <a:gdLst/>
              <a:ahLst/>
              <a:cxnLst/>
              <a:rect r="r" b="b" t="t" l="l"/>
              <a:pathLst>
                <a:path h="731520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0452" r="0" b="-50045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06654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5B6B7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Predicting priority for an Abnormal test result at admission time — ensemble vs. three baselines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50595" y="2527935"/>
            <a:ext cx="10031730" cy="4819650"/>
            <a:chOff x="0" y="0"/>
            <a:chExt cx="13375640" cy="6426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375639" cy="6426200"/>
            </a:xfrm>
            <a:custGeom>
              <a:avLst/>
              <a:gdLst/>
              <a:ahLst/>
              <a:cxnLst/>
              <a:rect r="r" b="b" t="t" l="l"/>
              <a:pathLst>
                <a:path h="6426200" w="13375639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13228701" y="0"/>
                  </a:lnTo>
                  <a:cubicBezTo>
                    <a:pt x="13309854" y="0"/>
                    <a:pt x="13375639" y="65786"/>
                    <a:pt x="13375639" y="146939"/>
                  </a:cubicBezTo>
                  <a:lnTo>
                    <a:pt x="13375639" y="6279261"/>
                  </a:lnTo>
                  <a:cubicBezTo>
                    <a:pt x="13375639" y="6360414"/>
                    <a:pt x="13309854" y="6426200"/>
                    <a:pt x="13228701" y="6426200"/>
                  </a:cubicBezTo>
                  <a:lnTo>
                    <a:pt x="146939" y="6426200"/>
                  </a:lnTo>
                  <a:cubicBezTo>
                    <a:pt x="65786" y="6426200"/>
                    <a:pt x="0" y="6360414"/>
                    <a:pt x="0" y="6279261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6EC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371600" y="2811780"/>
            <a:ext cx="5486400" cy="480060"/>
            <a:chOff x="0" y="0"/>
            <a:chExt cx="7315200" cy="6400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315200" cy="640080"/>
            </a:xfrm>
            <a:custGeom>
              <a:avLst/>
              <a:gdLst/>
              <a:ahLst/>
              <a:cxnLst/>
              <a:rect r="r" b="b" t="t" l="l"/>
              <a:pathLst>
                <a:path h="6400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731520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065A8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Precision@10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03020" y="3566160"/>
            <a:ext cx="3497580" cy="685800"/>
            <a:chOff x="0" y="0"/>
            <a:chExt cx="4663440" cy="914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663440" cy="914400"/>
            </a:xfrm>
            <a:custGeom>
              <a:avLst/>
              <a:gdLst/>
              <a:ahLst/>
              <a:cxnLst/>
              <a:rect r="r" b="b" t="t" l="l"/>
              <a:pathLst>
                <a:path h="914400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373" r="0" b="-4937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66344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70"/>
                </a:lnSpc>
              </a:pPr>
              <a:r>
                <a:rPr lang="en-US" sz="1725">
                  <a:solidFill>
                    <a:srgbClr val="1B24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Random ranking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4937760" y="3566160"/>
            <a:ext cx="1645920" cy="685800"/>
            <a:chOff x="0" y="0"/>
            <a:chExt cx="2194560" cy="914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4560" cy="914400"/>
            </a:xfrm>
            <a:custGeom>
              <a:avLst/>
              <a:gdLst/>
              <a:ahLst/>
              <a:cxnLst/>
              <a:rect r="r" b="b" t="t" l="l"/>
              <a:pathLst>
                <a:path h="914400" w="2194560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2139696" y="0"/>
                  </a:lnTo>
                  <a:cubicBezTo>
                    <a:pt x="2170049" y="0"/>
                    <a:pt x="2194560" y="24511"/>
                    <a:pt x="2194560" y="54864"/>
                  </a:cubicBezTo>
                  <a:lnTo>
                    <a:pt x="2194560" y="859536"/>
                  </a:lnTo>
                  <a:cubicBezTo>
                    <a:pt x="2194560" y="889889"/>
                    <a:pt x="2170049" y="914400"/>
                    <a:pt x="2139696" y="914400"/>
                  </a:cubicBezTo>
                  <a:lnTo>
                    <a:pt x="54864" y="914400"/>
                  </a:lnTo>
                  <a:cubicBezTo>
                    <a:pt x="24511" y="914400"/>
                    <a:pt x="0" y="889889"/>
                    <a:pt x="0" y="859536"/>
                  </a:cubicBezTo>
                  <a:close/>
                </a:path>
              </a:pathLst>
            </a:custGeom>
            <a:solidFill>
              <a:srgbClr val="AEC6D6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720840" y="3566160"/>
            <a:ext cx="960120" cy="685800"/>
            <a:chOff x="0" y="0"/>
            <a:chExt cx="1280160" cy="914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80160" cy="914400"/>
            </a:xfrm>
            <a:custGeom>
              <a:avLst/>
              <a:gdLst/>
              <a:ahLst/>
              <a:cxnLst/>
              <a:rect r="r" b="b" t="t" l="l"/>
              <a:pathLst>
                <a:path h="91440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1645" t="0" r="-41645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28016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2129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0.200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03020" y="4526280"/>
            <a:ext cx="3497580" cy="685800"/>
            <a:chOff x="0" y="0"/>
            <a:chExt cx="4663440" cy="914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663440" cy="914400"/>
            </a:xfrm>
            <a:custGeom>
              <a:avLst/>
              <a:gdLst/>
              <a:ahLst/>
              <a:cxnLst/>
              <a:rect r="r" b="b" t="t" l="l"/>
              <a:pathLst>
                <a:path h="914400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373" r="0" b="-49373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466344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70"/>
                </a:lnSpc>
              </a:pPr>
              <a:r>
                <a:rPr lang="en-US" sz="1725">
                  <a:solidFill>
                    <a:srgbClr val="1B24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Clinical-rule ranking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4937760" y="4526280"/>
            <a:ext cx="2468880" cy="685800"/>
            <a:chOff x="0" y="0"/>
            <a:chExt cx="3291840" cy="914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291840" cy="914400"/>
            </a:xfrm>
            <a:custGeom>
              <a:avLst/>
              <a:gdLst/>
              <a:ahLst/>
              <a:cxnLst/>
              <a:rect r="r" b="b" t="t" l="l"/>
              <a:pathLst>
                <a:path h="914400" w="3291840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3236976" y="0"/>
                  </a:lnTo>
                  <a:cubicBezTo>
                    <a:pt x="3267329" y="0"/>
                    <a:pt x="3291840" y="24511"/>
                    <a:pt x="3291840" y="54864"/>
                  </a:cubicBezTo>
                  <a:lnTo>
                    <a:pt x="3291840" y="859536"/>
                  </a:lnTo>
                  <a:cubicBezTo>
                    <a:pt x="3291840" y="889889"/>
                    <a:pt x="3267329" y="914400"/>
                    <a:pt x="3236976" y="914400"/>
                  </a:cubicBezTo>
                  <a:lnTo>
                    <a:pt x="54864" y="914400"/>
                  </a:lnTo>
                  <a:cubicBezTo>
                    <a:pt x="24511" y="914400"/>
                    <a:pt x="0" y="889889"/>
                    <a:pt x="0" y="859536"/>
                  </a:cubicBezTo>
                  <a:close/>
                </a:path>
              </a:pathLst>
            </a:custGeom>
            <a:solidFill>
              <a:srgbClr val="7FA8C2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543800" y="4526280"/>
            <a:ext cx="960120" cy="685800"/>
            <a:chOff x="0" y="0"/>
            <a:chExt cx="1280160" cy="9144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80160" cy="914400"/>
            </a:xfrm>
            <a:custGeom>
              <a:avLst/>
              <a:gdLst/>
              <a:ahLst/>
              <a:cxnLst/>
              <a:rect r="r" b="b" t="t" l="l"/>
              <a:pathLst>
                <a:path h="91440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1645" t="0" r="-41645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28016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2129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0.300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303020" y="5486400"/>
            <a:ext cx="3497580" cy="685800"/>
            <a:chOff x="0" y="0"/>
            <a:chExt cx="466344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663440" cy="914400"/>
            </a:xfrm>
            <a:custGeom>
              <a:avLst/>
              <a:gdLst/>
              <a:ahLst/>
              <a:cxnLst/>
              <a:rect r="r" b="b" t="t" l="l"/>
              <a:pathLst>
                <a:path h="914400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373" r="0" b="-4937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466344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70"/>
                </a:lnSpc>
              </a:pPr>
              <a:r>
                <a:rPr lang="en-US" sz="1725">
                  <a:solidFill>
                    <a:srgbClr val="1B24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Most-frequent-class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4937760" y="5486400"/>
            <a:ext cx="2880360" cy="685800"/>
            <a:chOff x="0" y="0"/>
            <a:chExt cx="3840480" cy="914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840480" cy="914400"/>
            </a:xfrm>
            <a:custGeom>
              <a:avLst/>
              <a:gdLst/>
              <a:ahLst/>
              <a:cxnLst/>
              <a:rect r="r" b="b" t="t" l="l"/>
              <a:pathLst>
                <a:path h="914400" w="3840480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3785616" y="0"/>
                  </a:lnTo>
                  <a:cubicBezTo>
                    <a:pt x="3815969" y="0"/>
                    <a:pt x="3840480" y="24511"/>
                    <a:pt x="3840480" y="54864"/>
                  </a:cubicBezTo>
                  <a:lnTo>
                    <a:pt x="3840480" y="859536"/>
                  </a:lnTo>
                  <a:cubicBezTo>
                    <a:pt x="3840480" y="889889"/>
                    <a:pt x="3815969" y="914400"/>
                    <a:pt x="3785616" y="914400"/>
                  </a:cubicBezTo>
                  <a:lnTo>
                    <a:pt x="54864" y="914400"/>
                  </a:lnTo>
                  <a:cubicBezTo>
                    <a:pt x="24511" y="914400"/>
                    <a:pt x="0" y="889889"/>
                    <a:pt x="0" y="859536"/>
                  </a:cubicBezTo>
                  <a:close/>
                </a:path>
              </a:pathLst>
            </a:custGeom>
            <a:solidFill>
              <a:srgbClr val="4E88AD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7955280" y="5486400"/>
            <a:ext cx="960120" cy="685800"/>
            <a:chOff x="0" y="0"/>
            <a:chExt cx="1280160" cy="9144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280160" cy="914400"/>
            </a:xfrm>
            <a:custGeom>
              <a:avLst/>
              <a:gdLst/>
              <a:ahLst/>
              <a:cxnLst/>
              <a:rect r="r" b="b" t="t" l="l"/>
              <a:pathLst>
                <a:path h="91440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1645" t="0" r="-41645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128016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2129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0.350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303020" y="6446520"/>
            <a:ext cx="3497580" cy="685800"/>
            <a:chOff x="0" y="0"/>
            <a:chExt cx="4663440" cy="9144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663440" cy="914400"/>
            </a:xfrm>
            <a:custGeom>
              <a:avLst/>
              <a:gdLst/>
              <a:ahLst/>
              <a:cxnLst/>
              <a:rect r="r" b="b" t="t" l="l"/>
              <a:pathLst>
                <a:path h="914400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373" r="0" b="-49373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466344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70"/>
                </a:lnSpc>
              </a:pPr>
              <a:r>
                <a:rPr lang="en-US" sz="1725">
                  <a:solidFill>
                    <a:srgbClr val="1B24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Ensemble (RF + CatBoost)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4937760" y="6446520"/>
            <a:ext cx="4937760" cy="685800"/>
            <a:chOff x="0" y="0"/>
            <a:chExt cx="6583680" cy="9144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583680" cy="914400"/>
            </a:xfrm>
            <a:custGeom>
              <a:avLst/>
              <a:gdLst/>
              <a:ahLst/>
              <a:cxnLst/>
              <a:rect r="r" b="b" t="t" l="l"/>
              <a:pathLst>
                <a:path h="914400" w="6583680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6528816" y="0"/>
                  </a:lnTo>
                  <a:cubicBezTo>
                    <a:pt x="6559169" y="0"/>
                    <a:pt x="6583680" y="24511"/>
                    <a:pt x="6583680" y="54864"/>
                  </a:cubicBezTo>
                  <a:lnTo>
                    <a:pt x="6583680" y="859536"/>
                  </a:lnTo>
                  <a:cubicBezTo>
                    <a:pt x="6583680" y="889889"/>
                    <a:pt x="6559169" y="914400"/>
                    <a:pt x="6528816" y="914400"/>
                  </a:cubicBezTo>
                  <a:lnTo>
                    <a:pt x="54864" y="914400"/>
                  </a:lnTo>
                  <a:cubicBezTo>
                    <a:pt x="24511" y="914400"/>
                    <a:pt x="0" y="889889"/>
                    <a:pt x="0" y="859536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0012680" y="6446520"/>
            <a:ext cx="960120" cy="685800"/>
            <a:chOff x="0" y="0"/>
            <a:chExt cx="1280160" cy="9144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280160" cy="914400"/>
            </a:xfrm>
            <a:custGeom>
              <a:avLst/>
              <a:gdLst/>
              <a:ahLst/>
              <a:cxnLst/>
              <a:rect r="r" b="b" t="t" l="l"/>
              <a:pathLst>
                <a:path h="91440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1645" t="0" r="-41645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128016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2129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0.600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1315700" y="2537460"/>
            <a:ext cx="5966460" cy="2263140"/>
            <a:chOff x="0" y="0"/>
            <a:chExt cx="7955280" cy="30175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955280" cy="3017520"/>
            </a:xfrm>
            <a:custGeom>
              <a:avLst/>
              <a:gdLst/>
              <a:ahLst/>
              <a:cxnLst/>
              <a:rect r="r" b="b" t="t" l="l"/>
              <a:pathLst>
                <a:path h="3017520" w="79552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7808976" y="0"/>
                  </a:lnTo>
                  <a:cubicBezTo>
                    <a:pt x="7889748" y="0"/>
                    <a:pt x="7955280" y="65532"/>
                    <a:pt x="7955280" y="146304"/>
                  </a:cubicBezTo>
                  <a:lnTo>
                    <a:pt x="7955280" y="2871216"/>
                  </a:lnTo>
                  <a:cubicBezTo>
                    <a:pt x="7955280" y="2951988"/>
                    <a:pt x="7889748" y="3017520"/>
                    <a:pt x="7808976" y="3017520"/>
                  </a:cubicBezTo>
                  <a:lnTo>
                    <a:pt x="146304" y="3017520"/>
                  </a:lnTo>
                  <a:cubicBezTo>
                    <a:pt x="65532" y="3017520"/>
                    <a:pt x="0" y="2951988"/>
                    <a:pt x="0" y="2871216"/>
                  </a:cubicBezTo>
                  <a:close/>
                </a:path>
              </a:pathLst>
            </a:custGeom>
            <a:solidFill>
              <a:srgbClr val="21295C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1658600" y="2743200"/>
            <a:ext cx="2743200" cy="1097280"/>
            <a:chOff x="0" y="0"/>
            <a:chExt cx="3657600" cy="14630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657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365760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920"/>
                </a:lnSpc>
              </a:pPr>
              <a:r>
                <a:rPr lang="en-US" sz="6600" b="true">
                  <a:solidFill>
                    <a:srgbClr val="5CC8D7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3x</a:t>
              </a: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11750040" y="3820668"/>
            <a:ext cx="5166360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D7E4EC"/>
                </a:solidFill>
                <a:latin typeface="Calibri (MS)"/>
                <a:ea typeface="Calibri (MS)"/>
                <a:cs typeface="Calibri (MS)"/>
                <a:sym typeface="Calibri (MS)"/>
              </a:rPr>
              <a:t>the random-ranking baseline's Precision@10 — every evaluated K outperforms all three baselines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11306175" y="4996815"/>
            <a:ext cx="5985510" cy="2350770"/>
            <a:chOff x="0" y="0"/>
            <a:chExt cx="7980680" cy="313436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980680" cy="3134360"/>
            </a:xfrm>
            <a:custGeom>
              <a:avLst/>
              <a:gdLst/>
              <a:ahLst/>
              <a:cxnLst/>
              <a:rect r="r" b="b" t="t" l="l"/>
              <a:pathLst>
                <a:path h="3134360" w="7980680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7833233" y="0"/>
                  </a:lnTo>
                  <a:cubicBezTo>
                    <a:pt x="7914639" y="0"/>
                    <a:pt x="7980680" y="66040"/>
                    <a:pt x="7980680" y="147447"/>
                  </a:cubicBezTo>
                  <a:lnTo>
                    <a:pt x="7980680" y="2986913"/>
                  </a:lnTo>
                  <a:cubicBezTo>
                    <a:pt x="7980680" y="3068320"/>
                    <a:pt x="7914639" y="3134360"/>
                    <a:pt x="7833233" y="3134360"/>
                  </a:cubicBezTo>
                  <a:lnTo>
                    <a:pt x="147447" y="3134360"/>
                  </a:lnTo>
                  <a:cubicBezTo>
                    <a:pt x="66040" y="3134360"/>
                    <a:pt x="0" y="3068320"/>
                    <a:pt x="0" y="298691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6EC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11658600" y="5239512"/>
            <a:ext cx="5349240" cy="480060"/>
            <a:chOff x="0" y="0"/>
            <a:chExt cx="7132320" cy="6400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132320" cy="640080"/>
            </a:xfrm>
            <a:custGeom>
              <a:avLst/>
              <a:gdLst/>
              <a:ahLst/>
              <a:cxnLst/>
              <a:rect r="r" b="b" t="t" l="l"/>
              <a:pathLst>
                <a:path h="64008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18" r="0" b="-167118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713232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65A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F1 Macro = 0.380</a:t>
              </a: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11750040" y="5712333"/>
            <a:ext cx="5166360" cy="1483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25">
                <a:solidFill>
                  <a:srgbClr val="1B2430"/>
                </a:solidFill>
                <a:latin typeface="Calibri (MS)"/>
                <a:ea typeface="Calibri (MS)"/>
                <a:cs typeface="Calibri (MS)"/>
                <a:sym typeface="Calibri (MS)"/>
              </a:rPr>
              <a:t>Error analysis shows a symmetric confusion matrix — evidence the admission-time feature set (no acute biological signal) sets a ceiling, not the model choice.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960120" y="7612380"/>
            <a:ext cx="16322040" cy="1303020"/>
            <a:chOff x="0" y="0"/>
            <a:chExt cx="21762720" cy="173736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1762720" cy="1737360"/>
            </a:xfrm>
            <a:custGeom>
              <a:avLst/>
              <a:gdLst/>
              <a:ahLst/>
              <a:cxnLst/>
              <a:rect r="r" b="b" t="t" l="l"/>
              <a:pathLst>
                <a:path h="1737360" w="2176272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21652992" y="0"/>
                  </a:lnTo>
                  <a:cubicBezTo>
                    <a:pt x="21713571" y="0"/>
                    <a:pt x="21762720" y="49149"/>
                    <a:pt x="21762720" y="109728"/>
                  </a:cubicBezTo>
                  <a:lnTo>
                    <a:pt x="21762720" y="1627632"/>
                  </a:lnTo>
                  <a:cubicBezTo>
                    <a:pt x="21762720" y="1688211"/>
                    <a:pt x="21713571" y="1737360"/>
                    <a:pt x="21652992" y="1737360"/>
                  </a:cubicBezTo>
                  <a:lnTo>
                    <a:pt x="109728" y="1737360"/>
                  </a:lnTo>
                  <a:cubicBezTo>
                    <a:pt x="49149" y="1737360"/>
                    <a:pt x="0" y="1688211"/>
                    <a:pt x="0" y="1627632"/>
                  </a:cubicBezTo>
                  <a:close/>
                </a:path>
              </a:pathLst>
            </a:custGeom>
            <a:solidFill>
              <a:srgbClr val="E4EEF3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303020" y="7612380"/>
            <a:ext cx="15636240" cy="1303020"/>
            <a:chOff x="0" y="0"/>
            <a:chExt cx="20848320" cy="173736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0848320" cy="1737360"/>
            </a:xfrm>
            <a:custGeom>
              <a:avLst/>
              <a:gdLst/>
              <a:ahLst/>
              <a:cxnLst/>
              <a:rect r="r" b="b" t="t" l="l"/>
              <a:pathLst>
                <a:path h="1737360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20848320" cy="1775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2129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Temporal split: </a:t>
              </a:r>
              <a:r>
                <a:rPr lang="en-US" sz="1875">
                  <a:solidFill>
                    <a:srgbClr val="1B243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trained on 2023 admissions, tested on 2024 (1,108 train / 88 test) to expose population drift before deployment.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617220"/>
            <a:ext cx="13716000" cy="822960"/>
            <a:chOff x="0" y="0"/>
            <a:chExt cx="1828800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828800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GRAPH ANALYTICS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440180"/>
            <a:ext cx="15499080" cy="548640"/>
            <a:chOff x="0" y="0"/>
            <a:chExt cx="2066544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665439" cy="731520"/>
            </a:xfrm>
            <a:custGeom>
              <a:avLst/>
              <a:gdLst/>
              <a:ahLst/>
              <a:cxnLst/>
              <a:rect r="r" b="b" t="t" l="l"/>
              <a:pathLst>
                <a:path h="731520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0452" r="0" b="-50045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06654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5B6B7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Filtering the condition ↔ medication graph by statistical significance, not raw co-occurrence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50595" y="2390775"/>
            <a:ext cx="7562850" cy="6465570"/>
            <a:chOff x="0" y="0"/>
            <a:chExt cx="10083800" cy="86207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083800" cy="8620760"/>
            </a:xfrm>
            <a:custGeom>
              <a:avLst/>
              <a:gdLst/>
              <a:ahLst/>
              <a:cxnLst/>
              <a:rect r="r" b="b" t="t" l="l"/>
              <a:pathLst>
                <a:path h="8620760" w="10083800">
                  <a:moveTo>
                    <a:pt x="0" y="146685"/>
                  </a:moveTo>
                  <a:cubicBezTo>
                    <a:pt x="0" y="65659"/>
                    <a:pt x="65659" y="0"/>
                    <a:pt x="146685" y="0"/>
                  </a:cubicBezTo>
                  <a:lnTo>
                    <a:pt x="9937115" y="0"/>
                  </a:lnTo>
                  <a:cubicBezTo>
                    <a:pt x="10018141" y="0"/>
                    <a:pt x="10083800" y="65659"/>
                    <a:pt x="10083800" y="146685"/>
                  </a:cubicBezTo>
                  <a:lnTo>
                    <a:pt x="10083800" y="8474075"/>
                  </a:lnTo>
                  <a:cubicBezTo>
                    <a:pt x="10083800" y="8555101"/>
                    <a:pt x="10018141" y="8620760"/>
                    <a:pt x="9937115" y="8620760"/>
                  </a:cubicBezTo>
                  <a:lnTo>
                    <a:pt x="146685" y="8620760"/>
                  </a:lnTo>
                  <a:cubicBezTo>
                    <a:pt x="65659" y="8620760"/>
                    <a:pt x="0" y="8555101"/>
                    <a:pt x="0" y="847407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6EC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371600" y="2674620"/>
            <a:ext cx="6858000" cy="480060"/>
            <a:chOff x="0" y="0"/>
            <a:chExt cx="9144000" cy="6400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44000" cy="640080"/>
            </a:xfrm>
            <a:custGeom>
              <a:avLst/>
              <a:gdLst/>
              <a:ahLst/>
              <a:cxnLst/>
              <a:rect r="r" b="b" t="t" l="l"/>
              <a:pathLst>
                <a:path h="64008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914400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65A8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Before → After lift ≥ 1.05 filter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940528" y="3860768"/>
            <a:ext cx="1468183" cy="14288"/>
            <a:chOff x="0" y="0"/>
            <a:chExt cx="1957578" cy="190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57578" cy="19050"/>
            </a:xfrm>
            <a:custGeom>
              <a:avLst/>
              <a:gdLst/>
              <a:ahLst/>
              <a:cxnLst/>
              <a:rect r="r" b="b" t="t" l="l"/>
              <a:pathLst>
                <a:path h="19050" w="1957578">
                  <a:moveTo>
                    <a:pt x="0" y="0"/>
                  </a:moveTo>
                  <a:lnTo>
                    <a:pt x="1957578" y="1905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952282" r="0" b="-1952282"/>
              </a:stretch>
            </a:blipFill>
            <a:ln w="14288" cap="sq">
              <a:solidFill>
                <a:srgbClr val="C6D6E0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940528" y="3860768"/>
            <a:ext cx="1468183" cy="768668"/>
            <a:chOff x="0" y="0"/>
            <a:chExt cx="1957578" cy="102489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57578" cy="1024890"/>
            </a:xfrm>
            <a:custGeom>
              <a:avLst/>
              <a:gdLst/>
              <a:ahLst/>
              <a:cxnLst/>
              <a:rect r="r" b="b" t="t" l="l"/>
              <a:pathLst>
                <a:path h="1024890" w="1957578">
                  <a:moveTo>
                    <a:pt x="0" y="0"/>
                  </a:moveTo>
                  <a:lnTo>
                    <a:pt x="1957578" y="102489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17173" t="0" r="-17173" b="0"/>
              </a:stretch>
            </a:blipFill>
            <a:ln w="14288" cap="sq">
              <a:solidFill>
                <a:srgbClr val="C6D6E0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940528" y="3860768"/>
            <a:ext cx="1468183" cy="1523048"/>
            <a:chOff x="0" y="0"/>
            <a:chExt cx="1957578" cy="203073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57578" cy="2030730"/>
            </a:xfrm>
            <a:custGeom>
              <a:avLst/>
              <a:gdLst/>
              <a:ahLst/>
              <a:cxnLst/>
              <a:rect r="r" b="b" t="t" l="l"/>
              <a:pathLst>
                <a:path h="2030730" w="1957578">
                  <a:moveTo>
                    <a:pt x="0" y="0"/>
                  </a:moveTo>
                  <a:lnTo>
                    <a:pt x="1957578" y="203073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83098" t="0" r="-83098" b="0"/>
              </a:stretch>
            </a:blipFill>
            <a:ln w="14288" cap="sq">
              <a:solidFill>
                <a:srgbClr val="C6D6E0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940528" y="4615148"/>
            <a:ext cx="1468183" cy="14288"/>
            <a:chOff x="0" y="0"/>
            <a:chExt cx="1957578" cy="1905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57578" cy="19050"/>
            </a:xfrm>
            <a:custGeom>
              <a:avLst/>
              <a:gdLst/>
              <a:ahLst/>
              <a:cxnLst/>
              <a:rect r="r" b="b" t="t" l="l"/>
              <a:pathLst>
                <a:path h="19050" w="1957578">
                  <a:moveTo>
                    <a:pt x="0" y="0"/>
                  </a:moveTo>
                  <a:lnTo>
                    <a:pt x="1957578" y="1905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952282" r="0" b="-1952282"/>
              </a:stretch>
            </a:blipFill>
            <a:ln w="14288" cap="sq">
              <a:solidFill>
                <a:srgbClr val="C6D6E0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940528" y="4615148"/>
            <a:ext cx="1468183" cy="768668"/>
            <a:chOff x="0" y="0"/>
            <a:chExt cx="1957578" cy="102489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957578" cy="1024890"/>
            </a:xfrm>
            <a:custGeom>
              <a:avLst/>
              <a:gdLst/>
              <a:ahLst/>
              <a:cxnLst/>
              <a:rect r="r" b="b" t="t" l="l"/>
              <a:pathLst>
                <a:path h="1024890" w="1957578">
                  <a:moveTo>
                    <a:pt x="0" y="0"/>
                  </a:moveTo>
                  <a:lnTo>
                    <a:pt x="1957578" y="102489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17173" t="0" r="-17173" b="0"/>
              </a:stretch>
            </a:blipFill>
            <a:ln w="14288" cap="sq">
              <a:solidFill>
                <a:srgbClr val="C6D6E0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940528" y="5369528"/>
            <a:ext cx="1468183" cy="14288"/>
            <a:chOff x="0" y="0"/>
            <a:chExt cx="1957578" cy="190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957578" cy="19050"/>
            </a:xfrm>
            <a:custGeom>
              <a:avLst/>
              <a:gdLst/>
              <a:ahLst/>
              <a:cxnLst/>
              <a:rect r="r" b="b" t="t" l="l"/>
              <a:pathLst>
                <a:path h="19050" w="1957578">
                  <a:moveTo>
                    <a:pt x="0" y="0"/>
                  </a:moveTo>
                  <a:lnTo>
                    <a:pt x="1957578" y="1905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952282" r="0" b="-1952282"/>
              </a:stretch>
            </a:blipFill>
            <a:ln w="14288" cap="sq">
              <a:solidFill>
                <a:srgbClr val="C6D6E0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783080" y="3703320"/>
            <a:ext cx="329184" cy="329184"/>
            <a:chOff x="0" y="0"/>
            <a:chExt cx="438912" cy="43891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783080" y="4457700"/>
            <a:ext cx="329184" cy="329184"/>
            <a:chOff x="0" y="0"/>
            <a:chExt cx="438912" cy="43891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783080" y="5212080"/>
            <a:ext cx="329184" cy="329184"/>
            <a:chOff x="0" y="0"/>
            <a:chExt cx="438912" cy="43891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3566160" y="3703320"/>
            <a:ext cx="329184" cy="329184"/>
            <a:chOff x="0" y="0"/>
            <a:chExt cx="438912" cy="43891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3566160" y="4457700"/>
            <a:ext cx="329184" cy="329184"/>
            <a:chOff x="0" y="0"/>
            <a:chExt cx="438912" cy="43891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3566160" y="5212080"/>
            <a:ext cx="329184" cy="329184"/>
            <a:chOff x="0" y="0"/>
            <a:chExt cx="438912" cy="43891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303020" y="5692140"/>
            <a:ext cx="3017520" cy="754380"/>
            <a:chOff x="0" y="0"/>
            <a:chExt cx="4023360" cy="10058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0233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402336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dense / unfiltered</a:t>
              </a:r>
            </a:p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(sparsity = 0.000)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4594860" y="4320540"/>
            <a:ext cx="754380" cy="411480"/>
            <a:chOff x="0" y="0"/>
            <a:chExt cx="1005840" cy="5486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05840" cy="548640"/>
            </a:xfrm>
            <a:custGeom>
              <a:avLst/>
              <a:gdLst/>
              <a:ahLst/>
              <a:cxnLst/>
              <a:rect r="r" b="b" t="t" l="l"/>
              <a:pathLst>
                <a:path h="548640" w="1005840">
                  <a:moveTo>
                    <a:pt x="0" y="137160"/>
                  </a:moveTo>
                  <a:lnTo>
                    <a:pt x="731520" y="137160"/>
                  </a:lnTo>
                  <a:lnTo>
                    <a:pt x="731520" y="0"/>
                  </a:lnTo>
                  <a:lnTo>
                    <a:pt x="1005840" y="274320"/>
                  </a:lnTo>
                  <a:lnTo>
                    <a:pt x="731520" y="548640"/>
                  </a:lnTo>
                  <a:lnTo>
                    <a:pt x="731520" y="411480"/>
                  </a:lnTo>
                  <a:lnTo>
                    <a:pt x="0" y="411480"/>
                  </a:lnTo>
                  <a:close/>
                </a:path>
              </a:pathLst>
            </a:custGeom>
            <a:solidFill>
              <a:srgbClr val="AEC6D6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5842444" y="3853624"/>
            <a:ext cx="1482471" cy="28575"/>
            <a:chOff x="0" y="0"/>
            <a:chExt cx="1976628" cy="381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976628" cy="38100"/>
            </a:xfrm>
            <a:custGeom>
              <a:avLst/>
              <a:gdLst/>
              <a:ahLst/>
              <a:cxnLst/>
              <a:rect r="r" b="b" t="t" l="l"/>
              <a:pathLst>
                <a:path h="38100" w="1976628">
                  <a:moveTo>
                    <a:pt x="0" y="0"/>
                  </a:moveTo>
                  <a:lnTo>
                    <a:pt x="1976628" y="381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960883" r="0" b="-960883"/>
              </a:stretch>
            </a:blipFill>
            <a:ln w="28575" cap="sq">
              <a:solidFill>
                <a:srgbClr val="1C7293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5842444" y="4608004"/>
            <a:ext cx="1482471" cy="28575"/>
            <a:chOff x="0" y="0"/>
            <a:chExt cx="1976628" cy="381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976628" cy="38100"/>
            </a:xfrm>
            <a:custGeom>
              <a:avLst/>
              <a:gdLst/>
              <a:ahLst/>
              <a:cxnLst/>
              <a:rect r="r" b="b" t="t" l="l"/>
              <a:pathLst>
                <a:path h="38100" w="1976628">
                  <a:moveTo>
                    <a:pt x="0" y="0"/>
                  </a:moveTo>
                  <a:lnTo>
                    <a:pt x="1976628" y="381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960883" r="0" b="-960883"/>
              </a:stretch>
            </a:blipFill>
            <a:ln w="28575" cap="sq">
              <a:solidFill>
                <a:srgbClr val="1C7293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5842444" y="5362384"/>
            <a:ext cx="1482471" cy="28575"/>
            <a:chOff x="0" y="0"/>
            <a:chExt cx="1976628" cy="381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976628" cy="38100"/>
            </a:xfrm>
            <a:custGeom>
              <a:avLst/>
              <a:gdLst/>
              <a:ahLst/>
              <a:cxnLst/>
              <a:rect r="r" b="b" t="t" l="l"/>
              <a:pathLst>
                <a:path h="38100" w="1976628">
                  <a:moveTo>
                    <a:pt x="0" y="0"/>
                  </a:moveTo>
                  <a:lnTo>
                    <a:pt x="1976628" y="381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960883" r="0" b="-960883"/>
              </a:stretch>
            </a:blipFill>
            <a:ln w="28575" cap="sq">
              <a:solidFill>
                <a:srgbClr val="1C7293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5692140" y="3703320"/>
            <a:ext cx="329184" cy="329184"/>
            <a:chOff x="0" y="0"/>
            <a:chExt cx="438912" cy="43891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5692140" y="4457700"/>
            <a:ext cx="329184" cy="329184"/>
            <a:chOff x="0" y="0"/>
            <a:chExt cx="438912" cy="43891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5692140" y="5212080"/>
            <a:ext cx="329184" cy="329184"/>
            <a:chOff x="0" y="0"/>
            <a:chExt cx="438912" cy="43891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7475220" y="3703320"/>
            <a:ext cx="329184" cy="329184"/>
            <a:chOff x="0" y="0"/>
            <a:chExt cx="438912" cy="438912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7475220" y="4457700"/>
            <a:ext cx="329184" cy="329184"/>
            <a:chOff x="0" y="0"/>
            <a:chExt cx="438912" cy="43891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7475220" y="5212080"/>
            <a:ext cx="329184" cy="329184"/>
            <a:chOff x="0" y="0"/>
            <a:chExt cx="438912" cy="43891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5349240" y="5692140"/>
            <a:ext cx="2606040" cy="754380"/>
            <a:chOff x="0" y="0"/>
            <a:chExt cx="3474720" cy="10058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4747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311" r="0" b="-17311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19050"/>
              <a:ext cx="347472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lift-filtered</a:t>
              </a:r>
            </a:p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(sparsity = 0.633)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362075" y="6642735"/>
            <a:ext cx="6739890" cy="19050"/>
            <a:chOff x="0" y="0"/>
            <a:chExt cx="8986520" cy="254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8986520" cy="25400"/>
            </a:xfrm>
            <a:custGeom>
              <a:avLst/>
              <a:gdLst/>
              <a:ahLst/>
              <a:cxnLst/>
              <a:rect r="r" b="b" t="t" l="l"/>
              <a:pathLst>
                <a:path h="25400" w="8986520">
                  <a:moveTo>
                    <a:pt x="0" y="0"/>
                  </a:moveTo>
                  <a:lnTo>
                    <a:pt x="8986520" y="254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6843806" r="0" b="-6843806"/>
              </a:stretch>
            </a:blipFill>
            <a:ln w="19050" cap="sq">
              <a:solidFill>
                <a:srgbClr val="DCE6EC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1371600" y="6858000"/>
            <a:ext cx="6720840" cy="548640"/>
            <a:chOff x="0" y="0"/>
            <a:chExt cx="8961120" cy="73152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8961120" cy="731520"/>
            </a:xfrm>
            <a:custGeom>
              <a:avLst/>
              <a:gdLst/>
              <a:ahLst/>
              <a:cxnLst/>
              <a:rect r="r" b="b" t="t" l="l"/>
              <a:pathLst>
                <a:path h="73152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8691" r="0" b="-18869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19050"/>
              <a:ext cx="89611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11 nodes  ·  11 edges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8778240" y="2400300"/>
            <a:ext cx="8503920" cy="2948940"/>
            <a:chOff x="0" y="0"/>
            <a:chExt cx="11338560" cy="393192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1338561" cy="3931920"/>
            </a:xfrm>
            <a:custGeom>
              <a:avLst/>
              <a:gdLst/>
              <a:ahLst/>
              <a:cxnLst/>
              <a:rect r="r" b="b" t="t" l="l"/>
              <a:pathLst>
                <a:path h="3931920" w="11338561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1192256" y="0"/>
                  </a:lnTo>
                  <a:cubicBezTo>
                    <a:pt x="11273028" y="0"/>
                    <a:pt x="11338561" y="65532"/>
                    <a:pt x="11338561" y="146304"/>
                  </a:cubicBezTo>
                  <a:lnTo>
                    <a:pt x="11338561" y="3785616"/>
                  </a:lnTo>
                  <a:cubicBezTo>
                    <a:pt x="11338561" y="3866388"/>
                    <a:pt x="11273028" y="3931920"/>
                    <a:pt x="11192256" y="3931920"/>
                  </a:cubicBezTo>
                  <a:lnTo>
                    <a:pt x="146304" y="3931920"/>
                  </a:lnTo>
                  <a:cubicBezTo>
                    <a:pt x="65532" y="3931920"/>
                    <a:pt x="0" y="3866388"/>
                    <a:pt x="0" y="3785616"/>
                  </a:cubicBezTo>
                  <a:close/>
                </a:path>
              </a:pathLst>
            </a:custGeom>
            <a:solidFill>
              <a:srgbClr val="21295C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9189720" y="2674620"/>
            <a:ext cx="4114800" cy="1097280"/>
            <a:chOff x="0" y="0"/>
            <a:chExt cx="5486400" cy="146304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54864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9525"/>
              <a:ext cx="54864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839"/>
                </a:lnSpc>
              </a:pPr>
              <a:r>
                <a:rPr lang="en-US" sz="5700" b="true">
                  <a:solidFill>
                    <a:srgbClr val="5CC8D7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ρ = 0.38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8768715" y="5614035"/>
            <a:ext cx="8522970" cy="3242310"/>
            <a:chOff x="0" y="0"/>
            <a:chExt cx="11363960" cy="432308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1363961" cy="4323080"/>
            </a:xfrm>
            <a:custGeom>
              <a:avLst/>
              <a:gdLst/>
              <a:ahLst/>
              <a:cxnLst/>
              <a:rect r="r" b="b" t="t" l="l"/>
              <a:pathLst>
                <a:path h="4323080" w="11363961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11216767" y="0"/>
                  </a:lnTo>
                  <a:cubicBezTo>
                    <a:pt x="11298048" y="0"/>
                    <a:pt x="11363961" y="65913"/>
                    <a:pt x="11363961" y="147193"/>
                  </a:cubicBezTo>
                  <a:lnTo>
                    <a:pt x="11363961" y="4175887"/>
                  </a:lnTo>
                  <a:cubicBezTo>
                    <a:pt x="11363961" y="4257167"/>
                    <a:pt x="11298048" y="4323080"/>
                    <a:pt x="11216767" y="4323080"/>
                  </a:cubicBezTo>
                  <a:lnTo>
                    <a:pt x="147193" y="4323080"/>
                  </a:lnTo>
                  <a:cubicBezTo>
                    <a:pt x="65913" y="4323080"/>
                    <a:pt x="0" y="4257167"/>
                    <a:pt x="0" y="417588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6EC"/>
              </a:solidFill>
              <a:prstDash val="solid"/>
              <a:miter/>
            </a:ln>
          </p:spPr>
        </p:sp>
      </p:grpSp>
      <p:grpSp>
        <p:nvGrpSpPr>
          <p:cNvPr name="Group 75" id="75"/>
          <p:cNvGrpSpPr/>
          <p:nvPr/>
        </p:nvGrpSpPr>
        <p:grpSpPr>
          <a:xfrm rot="0">
            <a:off x="9189720" y="5897880"/>
            <a:ext cx="617220" cy="617220"/>
            <a:chOff x="0" y="0"/>
            <a:chExt cx="822960" cy="82296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9189720" y="5897880"/>
            <a:ext cx="617220" cy="617220"/>
            <a:chOff x="0" y="0"/>
            <a:chExt cx="822960" cy="82296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822960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!</a:t>
              </a:r>
            </a:p>
          </p:txBody>
        </p:sp>
      </p:grpSp>
      <p:sp>
        <p:nvSpPr>
          <p:cNvPr name="Freeform 80" id="80"/>
          <p:cNvSpPr/>
          <p:nvPr/>
        </p:nvSpPr>
        <p:spPr>
          <a:xfrm flipH="false" flipV="false" rot="0">
            <a:off x="1278392" y="3361864"/>
            <a:ext cx="6632936" cy="2356946"/>
          </a:xfrm>
          <a:custGeom>
            <a:avLst/>
            <a:gdLst/>
            <a:ahLst/>
            <a:cxnLst/>
            <a:rect r="r" b="b" t="t" l="l"/>
            <a:pathLst>
              <a:path h="2356946" w="6632936">
                <a:moveTo>
                  <a:pt x="0" y="0"/>
                </a:moveTo>
                <a:lnTo>
                  <a:pt x="6632936" y="0"/>
                </a:lnTo>
                <a:lnTo>
                  <a:pt x="6632936" y="2356946"/>
                </a:lnTo>
                <a:lnTo>
                  <a:pt x="0" y="23569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1" id="81"/>
          <p:cNvSpPr txBox="true"/>
          <p:nvPr/>
        </p:nvSpPr>
        <p:spPr>
          <a:xfrm rot="0">
            <a:off x="1463040" y="7551420"/>
            <a:ext cx="6537960" cy="906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0"/>
              </a:lnSpc>
            </a:pPr>
            <a:r>
              <a:rPr lang="en-US" sz="1725" i="true">
                <a:solidFill>
                  <a:srgbClr val="5B6B79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small, threshold-dependent — findings describe this dataset, not a stable generalizable signal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9281160" y="3653790"/>
            <a:ext cx="7635240" cy="1512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950">
                <a:solidFill>
                  <a:srgbClr val="D7E4EC"/>
                </a:solidFill>
                <a:latin typeface="Calibri (MS)"/>
                <a:ea typeface="Calibri (MS)"/>
                <a:cs typeface="Calibri (MS)"/>
                <a:sym typeface="Calibri (MS)"/>
              </a:rPr>
              <a:t>Spearman correlation between PageRank and raw popularity — down from ρ = 0.97 on the unfiltered graph.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10172700" y="5720715"/>
            <a:ext cx="6743700" cy="2874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75" b="true">
                <a:solidFill>
                  <a:srgbClr val="21295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Interpretation note: </a:t>
            </a:r>
            <a:r>
              <a:rPr lang="en-US" sz="1875">
                <a:solidFill>
                  <a:srgbClr val="1B2430"/>
                </a:solidFill>
                <a:latin typeface="Calibri (MS)"/>
                <a:ea typeface="Calibri (MS)"/>
                <a:cs typeface="Calibri (MS)"/>
                <a:sym typeface="Calibri (MS)"/>
              </a:rPr>
              <a:t>PageRank and centrality here are structural measures, not clinical ones. A high-PageRank medication is not a flagged clinical risk — this graph informs periodic dashboard review, not per-patient triage decisions.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685800"/>
            <a:ext cx="15773400" cy="822960"/>
            <a:chOff x="0" y="0"/>
            <a:chExt cx="2103120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3463" r="0" b="-32346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03120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MONITORING, LIMITATIONS &amp; PATH FORWARD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508760"/>
            <a:ext cx="15087600" cy="548640"/>
            <a:chOff x="0" y="0"/>
            <a:chExt cx="201168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116800" cy="731520"/>
            </a:xfrm>
            <a:custGeom>
              <a:avLst/>
              <a:gdLst/>
              <a:ahLst/>
              <a:cxnLst/>
              <a:rect r="r" b="b" t="t" l="l"/>
              <a:pathLst>
                <a:path h="73152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5838" r="0" b="-48583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01168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AFC6D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What keeps this pipeline honest once it leaves the notebook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50595" y="2527935"/>
            <a:ext cx="5162550" cy="5916930"/>
            <a:chOff x="0" y="0"/>
            <a:chExt cx="6883400" cy="78892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883400" cy="7889240"/>
            </a:xfrm>
            <a:custGeom>
              <a:avLst/>
              <a:gdLst/>
              <a:ahLst/>
              <a:cxnLst/>
              <a:rect r="r" b="b" t="t" l="l"/>
              <a:pathLst>
                <a:path h="7889240" w="6883400">
                  <a:moveTo>
                    <a:pt x="0" y="146812"/>
                  </a:moveTo>
                  <a:cubicBezTo>
                    <a:pt x="0" y="65786"/>
                    <a:pt x="65786" y="0"/>
                    <a:pt x="146812" y="0"/>
                  </a:cubicBezTo>
                  <a:lnTo>
                    <a:pt x="6736588" y="0"/>
                  </a:lnTo>
                  <a:cubicBezTo>
                    <a:pt x="6817614" y="0"/>
                    <a:pt x="6883400" y="65786"/>
                    <a:pt x="6883400" y="146812"/>
                  </a:cubicBezTo>
                  <a:lnTo>
                    <a:pt x="6883400" y="7742428"/>
                  </a:lnTo>
                  <a:cubicBezTo>
                    <a:pt x="6883400" y="7823454"/>
                    <a:pt x="6817614" y="7889240"/>
                    <a:pt x="6736588" y="7889240"/>
                  </a:cubicBezTo>
                  <a:lnTo>
                    <a:pt x="146812" y="7889240"/>
                  </a:lnTo>
                  <a:cubicBezTo>
                    <a:pt x="65786" y="7889240"/>
                    <a:pt x="0" y="7823454"/>
                    <a:pt x="0" y="7742428"/>
                  </a:cubicBezTo>
                  <a:close/>
                </a:path>
              </a:pathLst>
            </a:custGeom>
            <a:solidFill>
              <a:srgbClr val="1B2450"/>
            </a:solidFill>
            <a:ln w="19050" cap="sq">
              <a:solidFill>
                <a:srgbClr val="35447A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303020" y="2880360"/>
            <a:ext cx="617220" cy="617220"/>
            <a:chOff x="0" y="0"/>
            <a:chExt cx="822960" cy="8229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03020" y="2880360"/>
            <a:ext cx="617220" cy="617220"/>
            <a:chOff x="0" y="0"/>
            <a:chExt cx="822960" cy="8229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822960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125980" y="2921508"/>
            <a:ext cx="3634740" cy="548640"/>
            <a:chOff x="0" y="0"/>
            <a:chExt cx="4846320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846320" cy="731520"/>
            </a:xfrm>
            <a:custGeom>
              <a:avLst/>
              <a:gdLst/>
              <a:ahLst/>
              <a:cxnLst/>
              <a:rect r="r" b="b" t="t" l="l"/>
              <a:pathLst>
                <a:path h="731520" w="4846320">
                  <a:moveTo>
                    <a:pt x="0" y="0"/>
                  </a:moveTo>
                  <a:lnTo>
                    <a:pt x="4846320" y="0"/>
                  </a:lnTo>
                  <a:lnTo>
                    <a:pt x="4846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088" r="0" b="-79088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48463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In Production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44168" y="3950208"/>
            <a:ext cx="123444" cy="123444"/>
            <a:chOff x="0" y="0"/>
            <a:chExt cx="164592" cy="16459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4592" cy="164592"/>
            </a:xfrm>
            <a:custGeom>
              <a:avLst/>
              <a:gdLst/>
              <a:ahLst/>
              <a:cxnLst/>
              <a:rect r="r" b="b" t="t" l="l"/>
              <a:pathLst>
                <a:path h="164592" w="164592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592" y="36830"/>
                    <a:pt x="164592" y="82296"/>
                  </a:cubicBezTo>
                  <a:cubicBezTo>
                    <a:pt x="164592" y="127762"/>
                    <a:pt x="127762" y="164592"/>
                    <a:pt x="82296" y="164592"/>
                  </a:cubicBezTo>
                  <a:cubicBezTo>
                    <a:pt x="36830" y="164592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5CC8D7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737360" y="3810000"/>
            <a:ext cx="3931920" cy="1424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2"/>
              </a:lnSpc>
            </a:pPr>
            <a:r>
              <a:rPr lang="en-US" sz="1725">
                <a:solidFill>
                  <a:srgbClr val="D7E4EC"/>
                </a:solidFill>
                <a:latin typeface="Calibri (MS)"/>
                <a:ea typeface="Calibri (MS)"/>
                <a:cs typeface="Calibri (MS)"/>
                <a:sym typeface="Calibri (MS)"/>
              </a:rPr>
              <a:t>Retrain if F1 Macro / Precision@10 drops below 0.380 / 0.600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344168" y="5527548"/>
            <a:ext cx="123444" cy="123444"/>
            <a:chOff x="0" y="0"/>
            <a:chExt cx="164592" cy="16459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64592" cy="164592"/>
            </a:xfrm>
            <a:custGeom>
              <a:avLst/>
              <a:gdLst/>
              <a:ahLst/>
              <a:cxnLst/>
              <a:rect r="r" b="b" t="t" l="l"/>
              <a:pathLst>
                <a:path h="164592" w="164592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592" y="36830"/>
                    <a:pt x="164592" y="82296"/>
                  </a:cubicBezTo>
                  <a:cubicBezTo>
                    <a:pt x="164592" y="127762"/>
                    <a:pt x="127762" y="164592"/>
                    <a:pt x="82296" y="164592"/>
                  </a:cubicBezTo>
                  <a:cubicBezTo>
                    <a:pt x="36830" y="164592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5CC8D7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737360" y="5387340"/>
            <a:ext cx="3931920" cy="1424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2"/>
              </a:lnSpc>
            </a:pPr>
            <a:r>
              <a:rPr lang="en-US" sz="1725">
                <a:solidFill>
                  <a:srgbClr val="D7E4EC"/>
                </a:solidFill>
                <a:latin typeface="Calibri (MS)"/>
                <a:ea typeface="Calibri (MS)"/>
                <a:cs typeface="Calibri (MS)"/>
                <a:sym typeface="Calibri (MS)"/>
              </a:rPr>
              <a:t>Track boundary-case (negative-silhouette) rate for cluster drift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344168" y="7104888"/>
            <a:ext cx="123444" cy="123444"/>
            <a:chOff x="0" y="0"/>
            <a:chExt cx="164592" cy="16459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64592" cy="164592"/>
            </a:xfrm>
            <a:custGeom>
              <a:avLst/>
              <a:gdLst/>
              <a:ahLst/>
              <a:cxnLst/>
              <a:rect r="r" b="b" t="t" l="l"/>
              <a:pathLst>
                <a:path h="164592" w="164592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592" y="36830"/>
                    <a:pt x="164592" y="82296"/>
                  </a:cubicBezTo>
                  <a:cubicBezTo>
                    <a:pt x="164592" y="127762"/>
                    <a:pt x="127762" y="164592"/>
                    <a:pt x="82296" y="164592"/>
                  </a:cubicBezTo>
                  <a:cubicBezTo>
                    <a:pt x="36830" y="164592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5CC8D7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737360" y="6964680"/>
            <a:ext cx="3931920" cy="1424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2"/>
              </a:lnSpc>
            </a:pPr>
            <a:r>
              <a:rPr lang="en-US" sz="1725">
                <a:solidFill>
                  <a:srgbClr val="D7E4EC"/>
                </a:solidFill>
                <a:latin typeface="Calibri (MS)"/>
                <a:ea typeface="Calibri (MS)"/>
                <a:cs typeface="Calibri (MS)"/>
                <a:sym typeface="Calibri (MS)"/>
              </a:rPr>
              <a:t>Rebuild the graph on a fixed cadence; a changed edge set is itself a signal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6436995" y="2527935"/>
            <a:ext cx="5162550" cy="5916930"/>
            <a:chOff x="0" y="0"/>
            <a:chExt cx="6883400" cy="78892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883400" cy="7889240"/>
            </a:xfrm>
            <a:custGeom>
              <a:avLst/>
              <a:gdLst/>
              <a:ahLst/>
              <a:cxnLst/>
              <a:rect r="r" b="b" t="t" l="l"/>
              <a:pathLst>
                <a:path h="7889240" w="6883400">
                  <a:moveTo>
                    <a:pt x="0" y="146812"/>
                  </a:moveTo>
                  <a:cubicBezTo>
                    <a:pt x="0" y="65786"/>
                    <a:pt x="65786" y="0"/>
                    <a:pt x="146812" y="0"/>
                  </a:cubicBezTo>
                  <a:lnTo>
                    <a:pt x="6736588" y="0"/>
                  </a:lnTo>
                  <a:cubicBezTo>
                    <a:pt x="6817614" y="0"/>
                    <a:pt x="6883400" y="65786"/>
                    <a:pt x="6883400" y="146812"/>
                  </a:cubicBezTo>
                  <a:lnTo>
                    <a:pt x="6883400" y="7742428"/>
                  </a:lnTo>
                  <a:cubicBezTo>
                    <a:pt x="6883400" y="7823454"/>
                    <a:pt x="6817614" y="7889240"/>
                    <a:pt x="6736588" y="7889240"/>
                  </a:cubicBezTo>
                  <a:lnTo>
                    <a:pt x="146812" y="7889240"/>
                  </a:lnTo>
                  <a:cubicBezTo>
                    <a:pt x="65786" y="7889240"/>
                    <a:pt x="0" y="7823454"/>
                    <a:pt x="0" y="7742428"/>
                  </a:cubicBezTo>
                  <a:close/>
                </a:path>
              </a:pathLst>
            </a:custGeom>
            <a:solidFill>
              <a:srgbClr val="1B2450"/>
            </a:solidFill>
            <a:ln w="19050" cap="sq">
              <a:solidFill>
                <a:srgbClr val="35447A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6789420" y="2880360"/>
            <a:ext cx="617220" cy="617220"/>
            <a:chOff x="0" y="0"/>
            <a:chExt cx="822960" cy="8229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6789420" y="2880360"/>
            <a:ext cx="617220" cy="617220"/>
            <a:chOff x="0" y="0"/>
            <a:chExt cx="822960" cy="8229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822960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7612380" y="2921508"/>
            <a:ext cx="3634740" cy="548640"/>
            <a:chOff x="0" y="0"/>
            <a:chExt cx="4846320" cy="7315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846320" cy="731520"/>
            </a:xfrm>
            <a:custGeom>
              <a:avLst/>
              <a:gdLst/>
              <a:ahLst/>
              <a:cxnLst/>
              <a:rect r="r" b="b" t="t" l="l"/>
              <a:pathLst>
                <a:path h="731520" w="4846320">
                  <a:moveTo>
                    <a:pt x="0" y="0"/>
                  </a:moveTo>
                  <a:lnTo>
                    <a:pt x="4846320" y="0"/>
                  </a:lnTo>
                  <a:lnTo>
                    <a:pt x="4846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088" r="0" b="-79088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48463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Known Limitations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6830568" y="3950208"/>
            <a:ext cx="123444" cy="123444"/>
            <a:chOff x="0" y="0"/>
            <a:chExt cx="164592" cy="16459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64592" cy="164592"/>
            </a:xfrm>
            <a:custGeom>
              <a:avLst/>
              <a:gdLst/>
              <a:ahLst/>
              <a:cxnLst/>
              <a:rect r="r" b="b" t="t" l="l"/>
              <a:pathLst>
                <a:path h="164592" w="164592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592" y="36830"/>
                    <a:pt x="164592" y="82296"/>
                  </a:cubicBezTo>
                  <a:cubicBezTo>
                    <a:pt x="164592" y="127762"/>
                    <a:pt x="127762" y="164592"/>
                    <a:pt x="82296" y="164592"/>
                  </a:cubicBezTo>
                  <a:cubicBezTo>
                    <a:pt x="36830" y="164592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5CC8D7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7223760" y="3810000"/>
            <a:ext cx="3931920" cy="1424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2"/>
              </a:lnSpc>
            </a:pPr>
            <a:r>
              <a:rPr lang="en-US" sz="1725">
                <a:solidFill>
                  <a:srgbClr val="D7E4EC"/>
                </a:solidFill>
                <a:latin typeface="Calibri (MS)"/>
                <a:ea typeface="Calibri (MS)"/>
                <a:cs typeface="Calibri (MS)"/>
                <a:sym typeface="Calibri (MS)"/>
              </a:rPr>
              <a:t>Cluster_Biz fit before the train/test split — a documented leakage caveat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6830568" y="5527548"/>
            <a:ext cx="123444" cy="123444"/>
            <a:chOff x="0" y="0"/>
            <a:chExt cx="164592" cy="16459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64592" cy="164592"/>
            </a:xfrm>
            <a:custGeom>
              <a:avLst/>
              <a:gdLst/>
              <a:ahLst/>
              <a:cxnLst/>
              <a:rect r="r" b="b" t="t" l="l"/>
              <a:pathLst>
                <a:path h="164592" w="164592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592" y="36830"/>
                    <a:pt x="164592" y="82296"/>
                  </a:cubicBezTo>
                  <a:cubicBezTo>
                    <a:pt x="164592" y="127762"/>
                    <a:pt x="127762" y="164592"/>
                    <a:pt x="82296" y="164592"/>
                  </a:cubicBezTo>
                  <a:cubicBezTo>
                    <a:pt x="36830" y="164592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5CC8D7"/>
            </a:solid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7223760" y="5387340"/>
            <a:ext cx="3931920" cy="1424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2"/>
              </a:lnSpc>
            </a:pPr>
            <a:r>
              <a:rPr lang="en-US" sz="1725">
                <a:solidFill>
                  <a:srgbClr val="D7E4EC"/>
                </a:solidFill>
                <a:latin typeface="Calibri (MS)"/>
                <a:ea typeface="Calibri (MS)"/>
                <a:cs typeface="Calibri (MS)"/>
                <a:sym typeface="Calibri (MS)"/>
              </a:rPr>
              <a:t>Ranking + graph layers cover only 1,196 of 54,966 records (cluster-join subset)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6830568" y="7104888"/>
            <a:ext cx="123444" cy="123444"/>
            <a:chOff x="0" y="0"/>
            <a:chExt cx="164592" cy="16459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64592" cy="164592"/>
            </a:xfrm>
            <a:custGeom>
              <a:avLst/>
              <a:gdLst/>
              <a:ahLst/>
              <a:cxnLst/>
              <a:rect r="r" b="b" t="t" l="l"/>
              <a:pathLst>
                <a:path h="164592" w="164592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592" y="36830"/>
                    <a:pt x="164592" y="82296"/>
                  </a:cubicBezTo>
                  <a:cubicBezTo>
                    <a:pt x="164592" y="127762"/>
                    <a:pt x="127762" y="164592"/>
                    <a:pt x="82296" y="164592"/>
                  </a:cubicBezTo>
                  <a:cubicBezTo>
                    <a:pt x="36830" y="164592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5CC8D7"/>
            </a:solidFill>
          </p:spPr>
        </p:sp>
      </p:grpSp>
      <p:sp>
        <p:nvSpPr>
          <p:cNvPr name="TextBox 45" id="45"/>
          <p:cNvSpPr txBox="true"/>
          <p:nvPr/>
        </p:nvSpPr>
        <p:spPr>
          <a:xfrm rot="0">
            <a:off x="7223760" y="6964680"/>
            <a:ext cx="3931920" cy="1424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2"/>
              </a:lnSpc>
            </a:pPr>
            <a:r>
              <a:rPr lang="en-US" sz="1725">
                <a:solidFill>
                  <a:srgbClr val="D7E4EC"/>
                </a:solidFill>
                <a:latin typeface="Calibri (MS)"/>
                <a:ea typeface="Calibri (MS)"/>
                <a:cs typeface="Calibri (MS)"/>
                <a:sym typeface="Calibri (MS)"/>
              </a:rPr>
              <a:t>data/interim/healtcare_processedv2.csv has no traceable generating step yet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11923395" y="2527935"/>
            <a:ext cx="5162550" cy="5916930"/>
            <a:chOff x="0" y="0"/>
            <a:chExt cx="6883400" cy="78892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883400" cy="7889240"/>
            </a:xfrm>
            <a:custGeom>
              <a:avLst/>
              <a:gdLst/>
              <a:ahLst/>
              <a:cxnLst/>
              <a:rect r="r" b="b" t="t" l="l"/>
              <a:pathLst>
                <a:path h="7889240" w="6883400">
                  <a:moveTo>
                    <a:pt x="0" y="146812"/>
                  </a:moveTo>
                  <a:cubicBezTo>
                    <a:pt x="0" y="65786"/>
                    <a:pt x="65786" y="0"/>
                    <a:pt x="146812" y="0"/>
                  </a:cubicBezTo>
                  <a:lnTo>
                    <a:pt x="6736588" y="0"/>
                  </a:lnTo>
                  <a:cubicBezTo>
                    <a:pt x="6817614" y="0"/>
                    <a:pt x="6883400" y="65786"/>
                    <a:pt x="6883400" y="146812"/>
                  </a:cubicBezTo>
                  <a:lnTo>
                    <a:pt x="6883400" y="7742428"/>
                  </a:lnTo>
                  <a:cubicBezTo>
                    <a:pt x="6883400" y="7823454"/>
                    <a:pt x="6817614" y="7889240"/>
                    <a:pt x="6736588" y="7889240"/>
                  </a:cubicBezTo>
                  <a:lnTo>
                    <a:pt x="146812" y="7889240"/>
                  </a:lnTo>
                  <a:cubicBezTo>
                    <a:pt x="65786" y="7889240"/>
                    <a:pt x="0" y="7823454"/>
                    <a:pt x="0" y="7742428"/>
                  </a:cubicBezTo>
                  <a:close/>
                </a:path>
              </a:pathLst>
            </a:custGeom>
            <a:solidFill>
              <a:srgbClr val="1B2450"/>
            </a:solidFill>
            <a:ln w="19050" cap="sq">
              <a:solidFill>
                <a:srgbClr val="35447A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12275820" y="2880360"/>
            <a:ext cx="617220" cy="617220"/>
            <a:chOff x="0" y="0"/>
            <a:chExt cx="822960" cy="82296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2275820" y="2880360"/>
            <a:ext cx="617220" cy="617220"/>
            <a:chOff x="0" y="0"/>
            <a:chExt cx="822960" cy="82296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822960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3098780" y="2921508"/>
            <a:ext cx="3634740" cy="548640"/>
            <a:chOff x="0" y="0"/>
            <a:chExt cx="4846320" cy="7315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846320" cy="731520"/>
            </a:xfrm>
            <a:custGeom>
              <a:avLst/>
              <a:gdLst/>
              <a:ahLst/>
              <a:cxnLst/>
              <a:rect r="r" b="b" t="t" l="l"/>
              <a:pathLst>
                <a:path h="731520" w="4846320">
                  <a:moveTo>
                    <a:pt x="0" y="0"/>
                  </a:moveTo>
                  <a:lnTo>
                    <a:pt x="4846320" y="0"/>
                  </a:lnTo>
                  <a:lnTo>
                    <a:pt x="4846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088" r="0" b="-79088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48463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Next Steps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2316968" y="3950208"/>
            <a:ext cx="123444" cy="123444"/>
            <a:chOff x="0" y="0"/>
            <a:chExt cx="164592" cy="16459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64592" cy="164592"/>
            </a:xfrm>
            <a:custGeom>
              <a:avLst/>
              <a:gdLst/>
              <a:ahLst/>
              <a:cxnLst/>
              <a:rect r="r" b="b" t="t" l="l"/>
              <a:pathLst>
                <a:path h="164592" w="164592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592" y="36830"/>
                    <a:pt x="164592" y="82296"/>
                  </a:cubicBezTo>
                  <a:cubicBezTo>
                    <a:pt x="164592" y="127762"/>
                    <a:pt x="127762" y="164592"/>
                    <a:pt x="82296" y="164592"/>
                  </a:cubicBezTo>
                  <a:cubicBezTo>
                    <a:pt x="36830" y="164592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5CC8D7"/>
            </a:solidFill>
          </p:spPr>
        </p:sp>
      </p:grpSp>
      <p:sp>
        <p:nvSpPr>
          <p:cNvPr name="TextBox 58" id="58"/>
          <p:cNvSpPr txBox="true"/>
          <p:nvPr/>
        </p:nvSpPr>
        <p:spPr>
          <a:xfrm rot="0">
            <a:off x="12710160" y="3810000"/>
            <a:ext cx="3931920" cy="1424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2"/>
              </a:lnSpc>
            </a:pPr>
            <a:r>
              <a:rPr lang="en-US" sz="1725">
                <a:solidFill>
                  <a:srgbClr val="D7E4EC"/>
                </a:solidFill>
                <a:latin typeface="Calibri (MS)"/>
                <a:ea typeface="Calibri (MS)"/>
                <a:cs typeface="Calibri (MS)"/>
                <a:sym typeface="Calibri (MS)"/>
              </a:rPr>
              <a:t>Add early clinical signals (vitals, labs, triage score) to break the feature ceiling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12316968" y="5527548"/>
            <a:ext cx="123444" cy="123444"/>
            <a:chOff x="0" y="0"/>
            <a:chExt cx="164592" cy="16459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64592" cy="164592"/>
            </a:xfrm>
            <a:custGeom>
              <a:avLst/>
              <a:gdLst/>
              <a:ahLst/>
              <a:cxnLst/>
              <a:rect r="r" b="b" t="t" l="l"/>
              <a:pathLst>
                <a:path h="164592" w="164592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592" y="36830"/>
                    <a:pt x="164592" y="82296"/>
                  </a:cubicBezTo>
                  <a:cubicBezTo>
                    <a:pt x="164592" y="127762"/>
                    <a:pt x="127762" y="164592"/>
                    <a:pt x="82296" y="164592"/>
                  </a:cubicBezTo>
                  <a:cubicBezTo>
                    <a:pt x="36830" y="164592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5CC8D7"/>
            </a:solidFill>
          </p:spPr>
        </p:sp>
      </p:grpSp>
      <p:sp>
        <p:nvSpPr>
          <p:cNvPr name="TextBox 61" id="61"/>
          <p:cNvSpPr txBox="true"/>
          <p:nvPr/>
        </p:nvSpPr>
        <p:spPr>
          <a:xfrm rot="0">
            <a:off x="12710160" y="5387340"/>
            <a:ext cx="3931920" cy="1424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2"/>
              </a:lnSpc>
            </a:pPr>
            <a:r>
              <a:rPr lang="en-US" sz="1725">
                <a:solidFill>
                  <a:srgbClr val="D7E4EC"/>
                </a:solidFill>
                <a:latin typeface="Calibri (MS)"/>
                <a:ea typeface="Calibri (MS)"/>
                <a:cs typeface="Calibri (MS)"/>
                <a:sym typeface="Calibri (MS)"/>
              </a:rPr>
              <a:t>Persist the K-Means model on train-only data to close the leakage caveat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12316968" y="7104888"/>
            <a:ext cx="123444" cy="123444"/>
            <a:chOff x="0" y="0"/>
            <a:chExt cx="164592" cy="16459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64592" cy="164592"/>
            </a:xfrm>
            <a:custGeom>
              <a:avLst/>
              <a:gdLst/>
              <a:ahLst/>
              <a:cxnLst/>
              <a:rect r="r" b="b" t="t" l="l"/>
              <a:pathLst>
                <a:path h="164592" w="164592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592" y="36830"/>
                    <a:pt x="164592" y="82296"/>
                  </a:cubicBezTo>
                  <a:cubicBezTo>
                    <a:pt x="164592" y="127762"/>
                    <a:pt x="127762" y="164592"/>
                    <a:pt x="82296" y="164592"/>
                  </a:cubicBezTo>
                  <a:cubicBezTo>
                    <a:pt x="36830" y="164592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5CC8D7"/>
            </a:solidFill>
          </p:spPr>
        </p:sp>
      </p:grpSp>
      <p:sp>
        <p:nvSpPr>
          <p:cNvPr name="TextBox 64" id="64"/>
          <p:cNvSpPr txBox="true"/>
          <p:nvPr/>
        </p:nvSpPr>
        <p:spPr>
          <a:xfrm rot="0">
            <a:off x="12710160" y="6964680"/>
            <a:ext cx="3931920" cy="1424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2"/>
              </a:lnSpc>
            </a:pPr>
            <a:r>
              <a:rPr lang="en-US" sz="1725">
                <a:solidFill>
                  <a:srgbClr val="D7E4EC"/>
                </a:solidFill>
                <a:latin typeface="Calibri (MS)"/>
                <a:ea typeface="Calibri (MS)"/>
                <a:cs typeface="Calibri (MS)"/>
                <a:sym typeface="Calibri (MS)"/>
              </a:rPr>
              <a:t>Ship build_graph.py as a standalone CLI script, independent of notebook state</a:t>
            </a:r>
          </a:p>
        </p:txBody>
      </p:sp>
      <p:grpSp>
        <p:nvGrpSpPr>
          <p:cNvPr name="Group 65" id="65"/>
          <p:cNvGrpSpPr/>
          <p:nvPr/>
        </p:nvGrpSpPr>
        <p:grpSpPr>
          <a:xfrm rot="0">
            <a:off x="960120" y="9464040"/>
            <a:ext cx="16322040" cy="480060"/>
            <a:chOff x="0" y="0"/>
            <a:chExt cx="21762720" cy="64008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1762720" cy="640080"/>
            </a:xfrm>
            <a:custGeom>
              <a:avLst/>
              <a:gdLst/>
              <a:ahLst/>
              <a:cxnLst/>
              <a:rect r="r" b="b" t="t" l="l"/>
              <a:pathLst>
                <a:path h="64008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2491" r="0" b="-61249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2176272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>
                  <a:solidFill>
                    <a:srgbClr val="89A2B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github.com/SofiaGMiranda/BIG-DATA-FINAL-PROYECT-2025-01  ·  Live dashboard linked in repo README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DAHO9OZVxRM</dc:identifier>
  <dcterms:modified xsi:type="dcterms:W3CDTF">2011-08-01T06:04:30Z</dcterms:modified>
  <cp:revision>1</cp:revision>
  <dc:title>Final_Presentation (1).pptx</dc:title>
</cp:coreProperties>
</file>